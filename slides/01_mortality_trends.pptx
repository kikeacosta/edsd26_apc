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3"/>
  </p:notesMasterIdLst>
  <p:sldIdLst>
    <p:sldId id="364" r:id="rId2"/>
    <p:sldId id="257" r:id="rId3"/>
    <p:sldId id="365" r:id="rId4"/>
    <p:sldId id="360" r:id="rId5"/>
    <p:sldId id="362" r:id="rId6"/>
    <p:sldId id="363" r:id="rId7"/>
    <p:sldId id="330" r:id="rId8"/>
    <p:sldId id="349" r:id="rId9"/>
    <p:sldId id="258" r:id="rId10"/>
    <p:sldId id="323" r:id="rId11"/>
    <p:sldId id="319" r:id="rId12"/>
    <p:sldId id="320" r:id="rId13"/>
    <p:sldId id="321" r:id="rId14"/>
    <p:sldId id="324" r:id="rId15"/>
    <p:sldId id="347" r:id="rId16"/>
    <p:sldId id="309" r:id="rId17"/>
    <p:sldId id="266" r:id="rId18"/>
    <p:sldId id="260" r:id="rId19"/>
    <p:sldId id="262" r:id="rId20"/>
    <p:sldId id="261" r:id="rId21"/>
    <p:sldId id="263" r:id="rId22"/>
    <p:sldId id="264" r:id="rId23"/>
    <p:sldId id="270" r:id="rId24"/>
    <p:sldId id="328" r:id="rId25"/>
    <p:sldId id="268" r:id="rId26"/>
    <p:sldId id="269" r:id="rId27"/>
    <p:sldId id="325" r:id="rId28"/>
    <p:sldId id="353" r:id="rId29"/>
    <p:sldId id="350" r:id="rId30"/>
    <p:sldId id="351" r:id="rId31"/>
    <p:sldId id="352" r:id="rId32"/>
    <p:sldId id="348" r:id="rId33"/>
    <p:sldId id="354" r:id="rId34"/>
    <p:sldId id="357" r:id="rId35"/>
    <p:sldId id="358" r:id="rId36"/>
    <p:sldId id="369" r:id="rId37"/>
    <p:sldId id="372" r:id="rId38"/>
    <p:sldId id="370" r:id="rId39"/>
    <p:sldId id="373" r:id="rId40"/>
    <p:sldId id="371" r:id="rId41"/>
    <p:sldId id="294" r:id="rId42"/>
    <p:sldId id="326" r:id="rId43"/>
    <p:sldId id="368" r:id="rId44"/>
    <p:sldId id="314" r:id="rId45"/>
    <p:sldId id="374" r:id="rId46"/>
    <p:sldId id="337" r:id="rId47"/>
    <p:sldId id="359" r:id="rId48"/>
    <p:sldId id="322" r:id="rId49"/>
    <p:sldId id="315" r:id="rId50"/>
    <p:sldId id="345" r:id="rId51"/>
    <p:sldId id="346" r:id="rId5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Marilia" initials="M" lastIdx="10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0035" autoAdjust="0"/>
    <p:restoredTop sz="93450" autoAdjust="0"/>
  </p:normalViewPr>
  <p:slideViewPr>
    <p:cSldViewPr>
      <p:cViewPr varScale="1">
        <p:scale>
          <a:sx n="88" d="100"/>
          <a:sy n="88" d="100"/>
        </p:scale>
        <p:origin x="468" y="57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notesMaster" Target="notesMasters/notesMaster1.xml"/><Relationship Id="rId58" Type="http://schemas.openxmlformats.org/officeDocument/2006/relationships/tableStyles" Target="tableStyles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commentAuthors" Target="comment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theme" Target="theme/theme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E1D6036-3E51-4885-B3E7-0FF094A24FF8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54EDAC4-D435-4815-86FC-F0320FD1D0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54790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4EDAC4-D435-4815-86FC-F0320FD1D047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846522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4EDAC4-D435-4815-86FC-F0320FD1D047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374115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54EDAC4-D435-4815-86FC-F0320FD1D047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467821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54EDAC4-D435-4815-86FC-F0320FD1D047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576942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4EDAC4-D435-4815-86FC-F0320FD1D047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72710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226503-A8FE-405A-A2EF-ECB45FB529F6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8DAE65-ECDD-47F4-A356-AF057A4A03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44890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226503-A8FE-405A-A2EF-ECB45FB529F6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8DAE65-ECDD-47F4-A356-AF057A4A03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43005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226503-A8FE-405A-A2EF-ECB45FB529F6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8DAE65-ECDD-47F4-A356-AF057A4A03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08075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226503-A8FE-405A-A2EF-ECB45FB529F6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8DAE65-ECDD-47F4-A356-AF057A4A03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19142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226503-A8FE-405A-A2EF-ECB45FB529F6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8DAE65-ECDD-47F4-A356-AF057A4A03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63349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226503-A8FE-405A-A2EF-ECB45FB529F6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8DAE65-ECDD-47F4-A356-AF057A4A03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38003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226503-A8FE-405A-A2EF-ECB45FB529F6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8DAE65-ECDD-47F4-A356-AF057A4A03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93854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226503-A8FE-405A-A2EF-ECB45FB529F6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8DAE65-ECDD-47F4-A356-AF057A4A03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41222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226503-A8FE-405A-A2EF-ECB45FB529F6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8DAE65-ECDD-47F4-A356-AF057A4A03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47421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226503-A8FE-405A-A2EF-ECB45FB529F6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8DAE65-ECDD-47F4-A356-AF057A4A03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6936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226503-A8FE-405A-A2EF-ECB45FB529F6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8DAE65-ECDD-47F4-A356-AF057A4A03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21140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9226503-A8FE-405A-A2EF-ECB45FB529F6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DAE65-ECDD-47F4-A356-AF057A4A03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68578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jpe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59904" y="2708920"/>
            <a:ext cx="10425514" cy="1251570"/>
          </a:xfrm>
        </p:spPr>
        <p:txBody>
          <a:bodyPr>
            <a:normAutofit fontScale="90000"/>
          </a:bodyPr>
          <a:lstStyle/>
          <a:p>
            <a:pPr algn="l"/>
            <a:r>
              <a:rPr lang="en-US" b="1" dirty="0"/>
              <a:t>Mortality disturbances: Age-Period-Cohort modeling and visualization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27448" y="4149080"/>
            <a:ext cx="6400800" cy="2016224"/>
          </a:xfrm>
        </p:spPr>
        <p:txBody>
          <a:bodyPr>
            <a:normAutofit fontScale="70000" lnSpcReduction="20000"/>
          </a:bodyPr>
          <a:lstStyle/>
          <a:p>
            <a:pPr algn="l">
              <a:spcBef>
                <a:spcPts val="0"/>
              </a:spcBef>
            </a:pPr>
            <a:r>
              <a:rPr lang="en-US" b="1" dirty="0">
                <a:solidFill>
                  <a:schemeClr val="tx1"/>
                </a:solidFill>
              </a:rPr>
              <a:t>EDSD Program 2026</a:t>
            </a:r>
          </a:p>
          <a:p>
            <a:pPr algn="l">
              <a:spcBef>
                <a:spcPts val="0"/>
              </a:spcBef>
            </a:pPr>
            <a:r>
              <a:rPr lang="en-US" b="1" dirty="0">
                <a:solidFill>
                  <a:schemeClr val="tx1"/>
                </a:solidFill>
              </a:rPr>
              <a:t>INED</a:t>
            </a:r>
          </a:p>
          <a:p>
            <a:pPr algn="l">
              <a:spcBef>
                <a:spcPts val="0"/>
              </a:spcBef>
            </a:pPr>
            <a:endParaRPr lang="en-US" b="1" dirty="0">
              <a:solidFill>
                <a:schemeClr val="tx1"/>
              </a:solidFill>
            </a:endParaRPr>
          </a:p>
          <a:p>
            <a:pPr algn="l"/>
            <a:r>
              <a:rPr lang="en-US" dirty="0">
                <a:solidFill>
                  <a:schemeClr val="tx1"/>
                </a:solidFill>
              </a:rPr>
              <a:t>Enrique Acosta</a:t>
            </a:r>
          </a:p>
          <a:p>
            <a:pPr algn="l"/>
            <a:r>
              <a:rPr lang="en-US" dirty="0">
                <a:solidFill>
                  <a:schemeClr val="tx1"/>
                </a:solidFill>
              </a:rPr>
              <a:t>Centre for Demographic Studies (CED)</a:t>
            </a:r>
          </a:p>
          <a:p>
            <a:pPr algn="l"/>
            <a:r>
              <a:rPr lang="en-US" dirty="0">
                <a:solidFill>
                  <a:schemeClr val="tx1"/>
                </a:solidFill>
              </a:rPr>
              <a:t>9.06.2026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99543CA-89DB-4D71-BE86-2A4DBF78CDCC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336360" y="5589240"/>
            <a:ext cx="2425700" cy="1121013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pic>
        <p:nvPicPr>
          <p:cNvPr id="6" name="Picture 2" descr="INEDEng on X: &quot;The call for applications for the European Doctoral ...">
            <a:extLst>
              <a:ext uri="{FF2B5EF4-FFF2-40B4-BE49-F238E27FC236}">
                <a16:creationId xmlns:a16="http://schemas.microsoft.com/office/drawing/2014/main" id="{CC768C10-A892-45E0-80EB-FA5CF81E67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19139" y="291141"/>
            <a:ext cx="5953721" cy="16938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6466525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200" y="413792"/>
            <a:ext cx="8229600" cy="1143000"/>
          </a:xfrm>
        </p:spPr>
        <p:txBody>
          <a:bodyPr/>
          <a:lstStyle/>
          <a:p>
            <a:r>
              <a:rPr lang="en-US" b="1" dirty="0"/>
              <a:t>Course outline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Day 1: Tuesday (today)</a:t>
            </a:r>
          </a:p>
          <a:p>
            <a:r>
              <a:rPr lang="en-US" dirty="0"/>
              <a:t>Morning lecture (9:30 – 11:00)</a:t>
            </a:r>
          </a:p>
          <a:p>
            <a:pPr lvl="1"/>
            <a:r>
              <a:rPr lang="en-US" dirty="0"/>
              <a:t>Presentation of concepts and methods</a:t>
            </a:r>
          </a:p>
          <a:p>
            <a:r>
              <a:rPr lang="en-US" dirty="0"/>
              <a:t>Coffee break (11:00 – 11:15)</a:t>
            </a:r>
          </a:p>
          <a:p>
            <a:r>
              <a:rPr lang="en-US" dirty="0"/>
              <a:t>Lab session (11:15 – 12:30)</a:t>
            </a:r>
          </a:p>
          <a:p>
            <a:pPr lvl="1"/>
            <a:r>
              <a:rPr lang="en-US" dirty="0"/>
              <a:t>Application of methods for APC analysis and excess mortality estimation in R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326146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200" y="413792"/>
            <a:ext cx="8229600" cy="1143000"/>
          </a:xfrm>
        </p:spPr>
        <p:txBody>
          <a:bodyPr/>
          <a:lstStyle/>
          <a:p>
            <a:r>
              <a:rPr lang="en-US" b="1" dirty="0"/>
              <a:t>Course outline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Days 2-4: Wednesday - Friday</a:t>
            </a:r>
          </a:p>
          <a:p>
            <a:r>
              <a:rPr lang="en-US" dirty="0"/>
              <a:t>Morning lectures (9:00 – 10:15)</a:t>
            </a:r>
          </a:p>
          <a:p>
            <a:pPr lvl="1"/>
            <a:r>
              <a:rPr lang="en-US" dirty="0"/>
              <a:t>Presentation of concepts and methods</a:t>
            </a:r>
          </a:p>
          <a:p>
            <a:r>
              <a:rPr lang="en-US" dirty="0"/>
              <a:t>Coffee break (10:15 – 10:30)</a:t>
            </a:r>
          </a:p>
          <a:p>
            <a:r>
              <a:rPr lang="en-US" dirty="0"/>
              <a:t>Lab sessions (10:30 – 12:00)</a:t>
            </a:r>
          </a:p>
          <a:p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6678185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200" y="413792"/>
            <a:ext cx="8229600" cy="1143000"/>
          </a:xfrm>
        </p:spPr>
        <p:txBody>
          <a:bodyPr/>
          <a:lstStyle/>
          <a:p>
            <a:r>
              <a:rPr lang="en-US" b="1" dirty="0"/>
              <a:t>Course outline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b="1" dirty="0"/>
              <a:t>Lectures</a:t>
            </a:r>
          </a:p>
          <a:p>
            <a:pPr lvl="1"/>
            <a:r>
              <a:rPr lang="en-US" dirty="0"/>
              <a:t>Day 1: Introduction to mortality trends</a:t>
            </a:r>
          </a:p>
          <a:p>
            <a:pPr lvl="2"/>
            <a:r>
              <a:rPr lang="en-US" sz="2000" dirty="0"/>
              <a:t>Trends in all-cause mortality</a:t>
            </a:r>
          </a:p>
          <a:p>
            <a:pPr lvl="2"/>
            <a:r>
              <a:rPr lang="en-US" sz="2000" dirty="0"/>
              <a:t>Mortality partition by causes of death</a:t>
            </a:r>
          </a:p>
          <a:p>
            <a:pPr lvl="2"/>
            <a:r>
              <a:rPr lang="en-US" sz="2000" dirty="0"/>
              <a:t>Theories of Epidemiological and Health transitions</a:t>
            </a:r>
          </a:p>
          <a:p>
            <a:pPr lvl="1"/>
            <a:r>
              <a:rPr lang="en-US" dirty="0"/>
              <a:t>Day 2 morning: Introduction to APC part 1: basic concepts and visual analyses</a:t>
            </a:r>
          </a:p>
          <a:p>
            <a:pPr lvl="2"/>
            <a:r>
              <a:rPr lang="en-US" sz="2000" dirty="0"/>
              <a:t>Conceptual definition of Age-Period-Cohort (APC) effects</a:t>
            </a:r>
          </a:p>
          <a:p>
            <a:pPr lvl="2"/>
            <a:r>
              <a:rPr lang="en-US" sz="2000" dirty="0"/>
              <a:t>Period and cohort perspectives of mortality change</a:t>
            </a:r>
          </a:p>
          <a:p>
            <a:pPr lvl="2"/>
            <a:r>
              <a:rPr lang="en-US" sz="2000" dirty="0"/>
              <a:t>Visual analysis of APC effects</a:t>
            </a:r>
          </a:p>
          <a:p>
            <a:pPr lvl="1"/>
            <a:r>
              <a:rPr lang="en-US" dirty="0"/>
              <a:t>Day 3: Introduction to APC part 2: basic statistical modeling</a:t>
            </a:r>
          </a:p>
          <a:p>
            <a:pPr lvl="2"/>
            <a:r>
              <a:rPr lang="en-US" sz="2000" dirty="0"/>
              <a:t>Identification problem in APC modelling</a:t>
            </a:r>
          </a:p>
          <a:p>
            <a:pPr lvl="2"/>
            <a:r>
              <a:rPr lang="en-US" sz="2000" dirty="0"/>
              <a:t>Different approaches</a:t>
            </a:r>
          </a:p>
          <a:p>
            <a:pPr lvl="2"/>
            <a:r>
              <a:rPr lang="en-US" sz="2000" dirty="0"/>
              <a:t>Analysis of nonlinear APC effects</a:t>
            </a:r>
          </a:p>
          <a:p>
            <a:pPr lvl="1"/>
            <a:r>
              <a:rPr lang="en-US" dirty="0"/>
              <a:t>Day 4: Introduction to excess mortality estimation</a:t>
            </a:r>
          </a:p>
          <a:p>
            <a:pPr lvl="2"/>
            <a:r>
              <a:rPr lang="en-US" sz="2000" dirty="0"/>
              <a:t>Conceptualization of excess mortality</a:t>
            </a:r>
          </a:p>
          <a:p>
            <a:pPr lvl="2"/>
            <a:r>
              <a:rPr lang="en-US" sz="2000" dirty="0"/>
              <a:t>Methods for excess mortality estimation</a:t>
            </a:r>
          </a:p>
          <a:p>
            <a:pPr lvl="1"/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9350079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200" y="413792"/>
            <a:ext cx="8229600" cy="1143000"/>
          </a:xfrm>
        </p:spPr>
        <p:txBody>
          <a:bodyPr/>
          <a:lstStyle/>
          <a:p>
            <a:r>
              <a:rPr lang="en-US" b="1" dirty="0"/>
              <a:t>Course outline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Lab sessions in R</a:t>
            </a:r>
          </a:p>
          <a:p>
            <a:pPr lvl="1"/>
            <a:r>
              <a:rPr lang="en-US" dirty="0"/>
              <a:t>Session 1: Introduction to mortality visualization</a:t>
            </a:r>
          </a:p>
          <a:p>
            <a:pPr lvl="2"/>
            <a:r>
              <a:rPr lang="en-US" dirty="0"/>
              <a:t>Colors, scales, and Lexis diagrams and surfaces</a:t>
            </a:r>
            <a:endParaRPr lang="en-US" sz="2000" dirty="0"/>
          </a:p>
          <a:p>
            <a:pPr lvl="1"/>
            <a:r>
              <a:rPr lang="en-US" dirty="0"/>
              <a:t>Session 2: Visual analyses of APC effects</a:t>
            </a:r>
          </a:p>
          <a:p>
            <a:pPr lvl="2"/>
            <a:r>
              <a:rPr lang="en-US" dirty="0"/>
              <a:t>Construction and interpretation of Lexis surfaces of mortality change</a:t>
            </a:r>
          </a:p>
          <a:p>
            <a:pPr lvl="1"/>
            <a:r>
              <a:rPr lang="en-US" dirty="0"/>
              <a:t>Session 3: Statistical analyses of APC effects</a:t>
            </a:r>
          </a:p>
          <a:p>
            <a:pPr lvl="2"/>
            <a:r>
              <a:rPr lang="en-US" dirty="0"/>
              <a:t>Introduction to fitting APC models</a:t>
            </a:r>
          </a:p>
          <a:p>
            <a:pPr lvl="1"/>
            <a:r>
              <a:rPr lang="en-US" dirty="0"/>
              <a:t>Session 4: Excess mortality estimation</a:t>
            </a:r>
          </a:p>
          <a:p>
            <a:pPr lvl="2"/>
            <a:r>
              <a:rPr lang="en-US" dirty="0"/>
              <a:t>Fitting baseline mortality and challenges</a:t>
            </a:r>
          </a:p>
        </p:txBody>
      </p:sp>
    </p:spTree>
    <p:extLst>
      <p:ext uri="{BB962C8B-B14F-4D97-AF65-F5344CB8AC3E}">
        <p14:creationId xmlns:p14="http://schemas.microsoft.com/office/powerpoint/2010/main" val="16344168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200" y="413792"/>
            <a:ext cx="8229600" cy="1143000"/>
          </a:xfrm>
        </p:spPr>
        <p:txBody>
          <a:bodyPr/>
          <a:lstStyle/>
          <a:p>
            <a:r>
              <a:rPr lang="en-US" b="1" dirty="0"/>
              <a:t>Course outline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Evaluation option 1</a:t>
            </a:r>
          </a:p>
          <a:p>
            <a:pPr lvl="1"/>
            <a:r>
              <a:rPr lang="en-US" dirty="0"/>
              <a:t>The evaluation of the course is based on the participation during the lectures and lab sessions (20%)</a:t>
            </a:r>
          </a:p>
          <a:p>
            <a:pPr lvl="1"/>
            <a:r>
              <a:rPr lang="es-419" dirty="0"/>
              <a:t>T</a:t>
            </a:r>
            <a:r>
              <a:rPr lang="en-US" dirty="0"/>
              <a:t>here is a final assignment to work after the course (80%)</a:t>
            </a:r>
          </a:p>
          <a:p>
            <a:r>
              <a:rPr lang="en-US" b="1" dirty="0"/>
              <a:t>Evaluation option 2</a:t>
            </a:r>
          </a:p>
          <a:p>
            <a:pPr lvl="1"/>
            <a:r>
              <a:rPr lang="en-US" dirty="0"/>
              <a:t>The evaluation of the course is based on the participation during the lectures and lab sessions (80%)</a:t>
            </a:r>
          </a:p>
          <a:p>
            <a:pPr lvl="1"/>
            <a:r>
              <a:rPr lang="es-419" dirty="0"/>
              <a:t>T</a:t>
            </a:r>
            <a:r>
              <a:rPr lang="en-US" dirty="0"/>
              <a:t>here is a final assignment that will be worked and presented in groups during the last day (20%)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082997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7BA354-2B69-4CBF-A440-4572C3C4F7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27548" y="1916832"/>
            <a:ext cx="8136904" cy="2592288"/>
          </a:xfrm>
        </p:spPr>
        <p:txBody>
          <a:bodyPr>
            <a:normAutofit/>
          </a:bodyPr>
          <a:lstStyle/>
          <a:p>
            <a:r>
              <a:rPr lang="en-US" sz="6000" dirty="0"/>
              <a:t>Lecture I. Introduction to mortality trends</a:t>
            </a:r>
          </a:p>
        </p:txBody>
      </p:sp>
    </p:spTree>
    <p:extLst>
      <p:ext uri="{BB962C8B-B14F-4D97-AF65-F5344CB8AC3E}">
        <p14:creationId xmlns:p14="http://schemas.microsoft.com/office/powerpoint/2010/main" val="11635293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67148" y="1636000"/>
            <a:ext cx="5049938" cy="4387427"/>
          </a:xfrm>
        </p:spPr>
        <p:txBody>
          <a:bodyPr>
            <a:normAutofit fontScale="85000" lnSpcReduction="20000"/>
          </a:bodyPr>
          <a:lstStyle/>
          <a:p>
            <a:pPr lvl="0"/>
            <a:r>
              <a:rPr lang="en-US" dirty="0"/>
              <a:t>Transition from one regime with high levels of mortality and fertility to another with low levels. </a:t>
            </a:r>
          </a:p>
          <a:p>
            <a:pPr lvl="0"/>
            <a:r>
              <a:rPr lang="en-US" b="1" dirty="0"/>
              <a:t>Decrease in mortality, </a:t>
            </a:r>
            <a:r>
              <a:rPr lang="en-US" dirty="0"/>
              <a:t>followed by fertility</a:t>
            </a:r>
          </a:p>
          <a:p>
            <a:pPr lvl="0"/>
            <a:r>
              <a:rPr lang="en-US" dirty="0"/>
              <a:t>But… </a:t>
            </a:r>
          </a:p>
          <a:p>
            <a:pPr lvl="1"/>
            <a:r>
              <a:rPr lang="en-US" dirty="0"/>
              <a:t>Why and how?</a:t>
            </a:r>
          </a:p>
          <a:p>
            <a:pPr lvl="1"/>
            <a:r>
              <a:rPr lang="en-US" dirty="0"/>
              <a:t>Who is affected?</a:t>
            </a:r>
          </a:p>
          <a:p>
            <a:pPr lvl="1"/>
            <a:r>
              <a:rPr lang="en-US" dirty="0"/>
              <a:t>Which are the causes of death?</a:t>
            </a:r>
          </a:p>
          <a:p>
            <a:pPr lvl="1"/>
            <a:r>
              <a:rPr lang="en-US" dirty="0"/>
              <a:t>Where are we going now?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286E20F2-FDD1-44BA-B68D-C621EA84A6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55007" y="160336"/>
            <a:ext cx="8229600" cy="1143000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/>
              <a:t>Demographic transition and mortality change</a:t>
            </a:r>
          </a:p>
        </p:txBody>
      </p:sp>
      <p:pic>
        <p:nvPicPr>
          <p:cNvPr id="1026" name="Picture 2" descr="Demographic transition - Wikipedia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7368" y="1484784"/>
            <a:ext cx="5987426" cy="47489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200075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559496" y="5373216"/>
            <a:ext cx="9083352" cy="1254869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Substantial improvements in the last 200 years</a:t>
            </a:r>
          </a:p>
          <a:p>
            <a:pPr lvl="1"/>
            <a:r>
              <a:rPr lang="en-US" dirty="0"/>
              <a:t>Larger changes than during previous millenniums</a:t>
            </a:r>
          </a:p>
          <a:p>
            <a:pPr lvl="0"/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7C4D6DD-B3F4-42BF-8C1C-35481E240D7C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2495600" y="980728"/>
            <a:ext cx="6541681" cy="4525963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286E20F2-FDD1-44BA-B68D-C621EA84A6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55007" y="160336"/>
            <a:ext cx="8229600" cy="1143000"/>
          </a:xfrm>
        </p:spPr>
        <p:txBody>
          <a:bodyPr/>
          <a:lstStyle/>
          <a:p>
            <a:r>
              <a:rPr lang="en-US" b="1" dirty="0"/>
              <a:t>Changes in all-cause mortality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7DC2790-F1F8-4FB1-8451-0E30A3BA983F}"/>
              </a:ext>
            </a:extLst>
          </p:cNvPr>
          <p:cNvSpPr txBox="1"/>
          <p:nvPr/>
        </p:nvSpPr>
        <p:spPr>
          <a:xfrm>
            <a:off x="8941765" y="3933056"/>
            <a:ext cx="183475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i="1" dirty="0"/>
              <a:t>Source: </a:t>
            </a:r>
          </a:p>
          <a:p>
            <a:r>
              <a:rPr lang="en-US" sz="1400" dirty="0"/>
              <a:t>Fogel and Costa (1997)</a:t>
            </a:r>
          </a:p>
        </p:txBody>
      </p:sp>
      <p:cxnSp>
        <p:nvCxnSpPr>
          <p:cNvPr id="4" name="Straight Connector 3"/>
          <p:cNvCxnSpPr/>
          <p:nvPr/>
        </p:nvCxnSpPr>
        <p:spPr>
          <a:xfrm flipV="1">
            <a:off x="6528048" y="1412776"/>
            <a:ext cx="0" cy="3096344"/>
          </a:xfrm>
          <a:prstGeom prst="line">
            <a:avLst/>
          </a:prstGeom>
          <a:ln w="34925">
            <a:solidFill>
              <a:srgbClr val="FFC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065645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55007" y="160336"/>
            <a:ext cx="8229600" cy="1143000"/>
          </a:xfrm>
        </p:spPr>
        <p:txBody>
          <a:bodyPr/>
          <a:lstStyle/>
          <a:p>
            <a:r>
              <a:rPr lang="en-US" b="1" dirty="0"/>
              <a:t>Changes in all-cause mortality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99655" y="1196752"/>
            <a:ext cx="10440961" cy="5328591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Life expectancy (e</a:t>
            </a:r>
            <a:r>
              <a:rPr lang="en-US" sz="1400" dirty="0"/>
              <a:t>0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One of the best indicators of mortality change over time</a:t>
            </a:r>
          </a:p>
          <a:p>
            <a:pPr lvl="1"/>
            <a:r>
              <a:rPr lang="en-US" dirty="0"/>
              <a:t>More than doubled in 170 years (1850 - 2019)</a:t>
            </a:r>
          </a:p>
          <a:p>
            <a:pPr lvl="2"/>
            <a:r>
              <a:rPr lang="en-US" dirty="0"/>
              <a:t>from &lt; 35 to &gt; 73.8 years on average</a:t>
            </a:r>
          </a:p>
          <a:p>
            <a:pPr lvl="2"/>
            <a:r>
              <a:rPr lang="en-US" dirty="0"/>
              <a:t>More than double increase!</a:t>
            </a:r>
          </a:p>
          <a:p>
            <a:pPr lvl="1"/>
            <a:r>
              <a:rPr lang="en-US" b="1" dirty="0"/>
              <a:t>“Most important achievement in human history”</a:t>
            </a:r>
          </a:p>
          <a:p>
            <a:pPr lvl="1"/>
            <a:endParaRPr lang="en-US" sz="1050" dirty="0"/>
          </a:p>
          <a:p>
            <a:pPr lvl="1"/>
            <a:r>
              <a:rPr lang="en-US" b="1" dirty="0"/>
              <a:t>But…</a:t>
            </a:r>
            <a:r>
              <a:rPr lang="en-US" dirty="0"/>
              <a:t> still large divergence between populations (WPP 2024)</a:t>
            </a:r>
          </a:p>
          <a:p>
            <a:pPr lvl="2"/>
            <a:r>
              <a:rPr lang="en-US" sz="2200" dirty="0"/>
              <a:t>54.6y (Nigeria) </a:t>
            </a:r>
          </a:p>
          <a:p>
            <a:pPr lvl="2"/>
            <a:r>
              <a:rPr lang="en-US" sz="2200" dirty="0"/>
              <a:t>86.5y (Monaco) </a:t>
            </a:r>
          </a:p>
          <a:p>
            <a:pPr lvl="2"/>
            <a:r>
              <a:rPr lang="en-US" sz="2200" dirty="0"/>
              <a:t>= 32 years gap</a:t>
            </a:r>
          </a:p>
          <a:p>
            <a:pPr lvl="2"/>
            <a:r>
              <a:rPr lang="en-US" sz="2200" dirty="0"/>
              <a:t>On average, one person lives</a:t>
            </a:r>
            <a:r>
              <a:rPr lang="en-US" sz="2200" b="1" dirty="0"/>
              <a:t> 58% </a:t>
            </a:r>
            <a:r>
              <a:rPr lang="en-US" sz="2200" dirty="0"/>
              <a:t>longer in Monaco than in Nigeria!!</a:t>
            </a:r>
          </a:p>
        </p:txBody>
      </p:sp>
    </p:spTree>
    <p:extLst>
      <p:ext uri="{BB962C8B-B14F-4D97-AF65-F5344CB8AC3E}">
        <p14:creationId xmlns:p14="http://schemas.microsoft.com/office/powerpoint/2010/main" val="17874935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200" y="-27384"/>
            <a:ext cx="8229600" cy="1143000"/>
          </a:xfrm>
        </p:spPr>
        <p:txBody>
          <a:bodyPr/>
          <a:lstStyle/>
          <a:p>
            <a:r>
              <a:rPr lang="en-US" b="1" dirty="0"/>
              <a:t>Changes in all-cause mortality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032648" y="965523"/>
            <a:ext cx="8229600" cy="696664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Substantial reduction in the last 200 years</a:t>
            </a:r>
          </a:p>
          <a:p>
            <a:pPr lvl="0"/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9814" y="1662187"/>
            <a:ext cx="10372372" cy="479688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89932" y="6443464"/>
            <a:ext cx="207806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i="1" dirty="0"/>
              <a:t>Source: </a:t>
            </a:r>
            <a:r>
              <a:rPr lang="en-US" sz="1400" dirty="0"/>
              <a:t>Our World in Data</a:t>
            </a:r>
          </a:p>
        </p:txBody>
      </p:sp>
    </p:spTree>
    <p:extLst>
      <p:ext uri="{BB962C8B-B14F-4D97-AF65-F5344CB8AC3E}">
        <p14:creationId xmlns:p14="http://schemas.microsoft.com/office/powerpoint/2010/main" val="333306133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266"/>
          <a:stretch/>
        </p:blipFill>
        <p:spPr>
          <a:xfrm>
            <a:off x="876555" y="1628760"/>
            <a:ext cx="10438889" cy="484813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89932" y="6443464"/>
            <a:ext cx="207806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i="1" dirty="0"/>
              <a:t>Source: </a:t>
            </a:r>
            <a:r>
              <a:rPr lang="en-US" sz="1400" dirty="0"/>
              <a:t>Our World in Data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0A1F54F1-A99E-4F4C-BCFF-2932D191C6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81200" y="-27384"/>
            <a:ext cx="8229600" cy="1143000"/>
          </a:xfrm>
        </p:spPr>
        <p:txBody>
          <a:bodyPr/>
          <a:lstStyle/>
          <a:p>
            <a:r>
              <a:rPr lang="en-US" b="1" dirty="0"/>
              <a:t>Changes in all-cause mortality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CDC49FDF-81A0-4D21-A388-39BB8711E7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32648" y="965523"/>
            <a:ext cx="8229600" cy="696664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Substantial reduction in the last 200 years</a:t>
            </a:r>
          </a:p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9436404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3461" y="1495484"/>
            <a:ext cx="10690313" cy="4941835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C370000D-13AA-462A-A1BE-079694582DEE}"/>
              </a:ext>
            </a:extLst>
          </p:cNvPr>
          <p:cNvSpPr txBox="1"/>
          <p:nvPr/>
        </p:nvSpPr>
        <p:spPr>
          <a:xfrm>
            <a:off x="8589932" y="6443464"/>
            <a:ext cx="207806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i="1" dirty="0"/>
              <a:t>Source: </a:t>
            </a:r>
            <a:r>
              <a:rPr lang="en-US" sz="1400" dirty="0"/>
              <a:t>Our World in Data</a:t>
            </a:r>
          </a:p>
        </p:txBody>
      </p:sp>
      <p:sp>
        <p:nvSpPr>
          <p:cNvPr id="18" name="Title 1">
            <a:extLst>
              <a:ext uri="{FF2B5EF4-FFF2-40B4-BE49-F238E27FC236}">
                <a16:creationId xmlns:a16="http://schemas.microsoft.com/office/drawing/2014/main" id="{6916B0C8-A2B3-4343-AFC7-6CAD76E6D5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81200" y="-27384"/>
            <a:ext cx="8229600" cy="1143000"/>
          </a:xfrm>
        </p:spPr>
        <p:txBody>
          <a:bodyPr/>
          <a:lstStyle/>
          <a:p>
            <a:r>
              <a:rPr lang="en-US" b="1" dirty="0"/>
              <a:t>Changes in all-cause mortality</a:t>
            </a:r>
          </a:p>
        </p:txBody>
      </p: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8DE35FEB-722F-4FE1-86A0-0BD47CA6C0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32648" y="965523"/>
            <a:ext cx="8229600" cy="696664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Substantial reduction in the last 200 years</a:t>
            </a:r>
          </a:p>
          <a:p>
            <a:pPr lvl="0"/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8589932" y="6443464"/>
            <a:ext cx="207806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i="1" dirty="0"/>
              <a:t>Source: </a:t>
            </a:r>
            <a:r>
              <a:rPr lang="en-US" sz="1400" dirty="0"/>
              <a:t>Our World in Data</a:t>
            </a:r>
          </a:p>
        </p:txBody>
      </p:sp>
    </p:spTree>
    <p:extLst>
      <p:ext uri="{BB962C8B-B14F-4D97-AF65-F5344CB8AC3E}">
        <p14:creationId xmlns:p14="http://schemas.microsoft.com/office/powerpoint/2010/main" val="145939357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Box 16">
            <a:extLst>
              <a:ext uri="{FF2B5EF4-FFF2-40B4-BE49-F238E27FC236}">
                <a16:creationId xmlns:a16="http://schemas.microsoft.com/office/drawing/2014/main" id="{C370000D-13AA-462A-A1BE-079694582DEE}"/>
              </a:ext>
            </a:extLst>
          </p:cNvPr>
          <p:cNvSpPr txBox="1"/>
          <p:nvPr/>
        </p:nvSpPr>
        <p:spPr>
          <a:xfrm>
            <a:off x="8589932" y="6443464"/>
            <a:ext cx="207806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i="1" dirty="0"/>
              <a:t>Source: </a:t>
            </a:r>
            <a:r>
              <a:rPr lang="en-US" sz="1400" dirty="0"/>
              <a:t>Our World in Data</a:t>
            </a:r>
          </a:p>
        </p:txBody>
      </p:sp>
      <p:sp>
        <p:nvSpPr>
          <p:cNvPr id="18" name="Title 1">
            <a:extLst>
              <a:ext uri="{FF2B5EF4-FFF2-40B4-BE49-F238E27FC236}">
                <a16:creationId xmlns:a16="http://schemas.microsoft.com/office/drawing/2014/main" id="{6916B0C8-A2B3-4343-AFC7-6CAD76E6D5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81200" y="-27384"/>
            <a:ext cx="8229600" cy="1143000"/>
          </a:xfrm>
        </p:spPr>
        <p:txBody>
          <a:bodyPr/>
          <a:lstStyle/>
          <a:p>
            <a:r>
              <a:rPr lang="en-US" b="1" dirty="0"/>
              <a:t>Changes in all-cause mortality</a:t>
            </a:r>
          </a:p>
        </p:txBody>
      </p: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8DE35FEB-722F-4FE1-86A0-0BD47CA6C0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32648" y="965523"/>
            <a:ext cx="8229600" cy="696664"/>
          </a:xfrm>
        </p:spPr>
        <p:txBody>
          <a:bodyPr>
            <a:normAutofit fontScale="70000" lnSpcReduction="20000"/>
          </a:bodyPr>
          <a:lstStyle/>
          <a:p>
            <a:pPr lvl="0"/>
            <a:r>
              <a:rPr lang="en-US" dirty="0"/>
              <a:t>Substantial reduction in the last 200 years</a:t>
            </a:r>
          </a:p>
          <a:p>
            <a:pPr lvl="0"/>
            <a:r>
              <a:rPr lang="en-US" dirty="0"/>
              <a:t>But an increase in inequality</a:t>
            </a:r>
          </a:p>
          <a:p>
            <a:pPr lvl="0"/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8589932" y="6443464"/>
            <a:ext cx="207806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i="1" dirty="0"/>
              <a:t>Source: </a:t>
            </a:r>
            <a:r>
              <a:rPr lang="en-US" sz="1400" dirty="0"/>
              <a:t>Our World in Data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2C18591-8EB4-4FC2-99EE-712807689CA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8987" y="2492891"/>
            <a:ext cx="5781617" cy="267381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D1822C1-694B-472F-A947-7C8EEDDA022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66550" y="2492891"/>
            <a:ext cx="5751685" cy="26588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904589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itle 1">
            <a:extLst>
              <a:ext uri="{FF2B5EF4-FFF2-40B4-BE49-F238E27FC236}">
                <a16:creationId xmlns:a16="http://schemas.microsoft.com/office/drawing/2014/main" id="{6916B0C8-A2B3-4343-AFC7-6CAD76E6D5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81200" y="-27384"/>
            <a:ext cx="8229600" cy="1143000"/>
          </a:xfrm>
        </p:spPr>
        <p:txBody>
          <a:bodyPr/>
          <a:lstStyle/>
          <a:p>
            <a:r>
              <a:rPr lang="en-US" b="1" dirty="0"/>
              <a:t>Changes in all-cause mortality</a:t>
            </a:r>
          </a:p>
        </p:txBody>
      </p: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8DE35FEB-722F-4FE1-86A0-0BD47CA6C0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76311" y="2734544"/>
            <a:ext cx="8229600" cy="696664"/>
          </a:xfrm>
        </p:spPr>
        <p:txBody>
          <a:bodyPr>
            <a:noAutofit/>
          </a:bodyPr>
          <a:lstStyle/>
          <a:p>
            <a:pPr marL="0" lvl="0" indent="0" algn="ctr">
              <a:buNone/>
            </a:pPr>
            <a:r>
              <a:rPr lang="en-US" sz="4000" dirty="0">
                <a:solidFill>
                  <a:srgbClr val="00B050"/>
                </a:solidFill>
              </a:rPr>
              <a:t>Poll time: what do you think will be the limit of human life expectancy?</a:t>
            </a:r>
          </a:p>
          <a:p>
            <a:pPr lvl="0" algn="ctr"/>
            <a:endParaRPr lang="en-US" sz="4000" dirty="0"/>
          </a:p>
        </p:txBody>
      </p:sp>
    </p:spTree>
    <p:extLst>
      <p:ext uri="{BB962C8B-B14F-4D97-AF65-F5344CB8AC3E}">
        <p14:creationId xmlns:p14="http://schemas.microsoft.com/office/powerpoint/2010/main" val="159794585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3392" y="1052736"/>
            <a:ext cx="5256584" cy="576264"/>
          </a:xfrm>
        </p:spPr>
        <p:txBody>
          <a:bodyPr>
            <a:normAutofit/>
          </a:bodyPr>
          <a:lstStyle/>
          <a:p>
            <a:pPr lvl="0"/>
            <a:r>
              <a:rPr lang="en-US" sz="2800" dirty="0"/>
              <a:t>Limits of Life expectancy (e</a:t>
            </a:r>
            <a:r>
              <a:rPr lang="en-US" sz="1200" dirty="0"/>
              <a:t>0</a:t>
            </a:r>
            <a:r>
              <a:rPr lang="en-US" sz="2800" dirty="0"/>
              <a:t>)</a:t>
            </a:r>
          </a:p>
          <a:p>
            <a:pPr lvl="0"/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19536" y="1628800"/>
            <a:ext cx="6984776" cy="517337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07362" y="1766495"/>
            <a:ext cx="182285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/>
              <a:t>Record female life expectancy since 1840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20336" y="2228160"/>
            <a:ext cx="2692696" cy="16927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“Female life expectancy in the record-holding country has risen for 160 years at a steady pace of almost 3 months per year”</a:t>
            </a:r>
          </a:p>
          <a:p>
            <a:pPr algn="r"/>
            <a:r>
              <a:rPr lang="en-US" sz="1400" dirty="0"/>
              <a:t>Oeppen &amp; Vaupel (2002)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20336" y="4081173"/>
            <a:ext cx="2692696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/>
              <a:t>Limits broken on average 5 years after publication</a:t>
            </a:r>
          </a:p>
          <a:p>
            <a:pPr algn="r"/>
            <a:endParaRPr lang="en-US" dirty="0"/>
          </a:p>
          <a:p>
            <a:pPr algn="r"/>
            <a:r>
              <a:rPr lang="en-US" dirty="0"/>
              <a:t>Dong et al. (2016) → 115</a:t>
            </a:r>
          </a:p>
          <a:p>
            <a:pPr algn="r"/>
            <a:r>
              <a:rPr lang="en-US" dirty="0"/>
              <a:t>De Grey → 1,000 years</a:t>
            </a:r>
          </a:p>
          <a:p>
            <a:pPr algn="r"/>
            <a:endParaRPr lang="en-US" sz="1400" dirty="0"/>
          </a:p>
          <a:p>
            <a:pPr algn="r"/>
            <a:r>
              <a:rPr lang="en-US" dirty="0"/>
              <a:t>Transhumanism??</a:t>
            </a:r>
            <a:endParaRPr lang="en-US" sz="1400" dirty="0"/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E7C96DD6-9FA6-486D-A89E-46DC59BF8F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81200" y="-27384"/>
            <a:ext cx="8229600" cy="1143000"/>
          </a:xfrm>
        </p:spPr>
        <p:txBody>
          <a:bodyPr/>
          <a:lstStyle/>
          <a:p>
            <a:r>
              <a:rPr lang="en-US" b="1" dirty="0"/>
              <a:t>Changes in all-cause mortality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DB967E5-88D9-A3A0-50BC-5937749590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04312" y="828599"/>
            <a:ext cx="3034508" cy="13194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67361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491"/>
          <a:stretch/>
        </p:blipFill>
        <p:spPr>
          <a:xfrm>
            <a:off x="1581807" y="1412776"/>
            <a:ext cx="9986801" cy="5450441"/>
          </a:xfrm>
          <a:prstGeom prst="rect">
            <a:avLst/>
          </a:prstGeom>
        </p:spPr>
      </p:pic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3392" y="991597"/>
            <a:ext cx="10657184" cy="1143000"/>
          </a:xfrm>
        </p:spPr>
        <p:txBody>
          <a:bodyPr>
            <a:normAutofit/>
          </a:bodyPr>
          <a:lstStyle/>
          <a:p>
            <a:r>
              <a:rPr lang="en-US" sz="2800" dirty="0"/>
              <a:t>13 608 age-specific death rates (ASDR) in one Lexis surface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3352" y="1647616"/>
            <a:ext cx="130574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lvl="1" algn="r"/>
            <a:r>
              <a:rPr lang="en-US" dirty="0"/>
              <a:t>France </a:t>
            </a:r>
          </a:p>
          <a:p>
            <a:pPr marL="0" lvl="1" algn="r"/>
            <a:r>
              <a:rPr lang="en-US" dirty="0"/>
              <a:t>ASDRs</a:t>
            </a:r>
          </a:p>
          <a:p>
            <a:pPr marL="0" lvl="1" algn="r"/>
            <a:r>
              <a:rPr lang="en-US" dirty="0"/>
              <a:t>1850-2017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98FD5453-8A46-4D61-B011-82CE7CBC6B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81200" y="-27384"/>
            <a:ext cx="8229600" cy="1143000"/>
          </a:xfrm>
        </p:spPr>
        <p:txBody>
          <a:bodyPr/>
          <a:lstStyle/>
          <a:p>
            <a:r>
              <a:rPr lang="en-US" b="1" dirty="0"/>
              <a:t>Changes in all-cause mortality</a:t>
            </a:r>
          </a:p>
        </p:txBody>
      </p:sp>
    </p:spTree>
    <p:extLst>
      <p:ext uri="{BB962C8B-B14F-4D97-AF65-F5344CB8AC3E}">
        <p14:creationId xmlns:p14="http://schemas.microsoft.com/office/powerpoint/2010/main" val="4635587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200" y="16670"/>
            <a:ext cx="8229600" cy="1143000"/>
          </a:xfrm>
        </p:spPr>
        <p:txBody>
          <a:bodyPr/>
          <a:lstStyle/>
          <a:p>
            <a:r>
              <a:rPr lang="en-US" b="1" dirty="0"/>
              <a:t>Mortality partition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71464" y="1159670"/>
            <a:ext cx="9793088" cy="5293665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Conceptual partitions for more than 200 years</a:t>
            </a:r>
          </a:p>
          <a:p>
            <a:pPr lvl="1"/>
            <a:r>
              <a:rPr lang="en-US" sz="2400" dirty="0"/>
              <a:t>Biologist, actuaries, and demographers </a:t>
            </a:r>
          </a:p>
          <a:p>
            <a:pPr lvl="1"/>
            <a:r>
              <a:rPr lang="en-US" sz="2400" dirty="0"/>
              <a:t>To improve understanding mortality trends and for mathematical modeling</a:t>
            </a:r>
          </a:p>
          <a:p>
            <a:pPr lvl="1"/>
            <a:r>
              <a:rPr lang="en-US" sz="2400" dirty="0"/>
              <a:t>Gompertz (1825)’s “law of mortality”</a:t>
            </a:r>
          </a:p>
          <a:p>
            <a:pPr lvl="2"/>
            <a:r>
              <a:rPr lang="en-US" sz="2000" dirty="0"/>
              <a:t>Mortality from </a:t>
            </a:r>
            <a:r>
              <a:rPr lang="en-US" sz="2000" b="1" i="1" dirty="0"/>
              <a:t>deterioration </a:t>
            </a:r>
            <a:r>
              <a:rPr lang="en-US" sz="2000" dirty="0"/>
              <a:t>and </a:t>
            </a:r>
            <a:r>
              <a:rPr lang="en-US" sz="2000" b="1" i="1" dirty="0"/>
              <a:t>chance</a:t>
            </a:r>
          </a:p>
          <a:p>
            <a:pPr lvl="1"/>
            <a:r>
              <a:rPr lang="en-US" sz="2400" dirty="0"/>
              <a:t>Makeham (1860)</a:t>
            </a:r>
          </a:p>
          <a:p>
            <a:pPr lvl="2"/>
            <a:r>
              <a:rPr lang="en-US" sz="2000" dirty="0"/>
              <a:t>First one to include the conceptual partition of mortality into the Gompertz mathematical model</a:t>
            </a:r>
          </a:p>
          <a:p>
            <a:pPr lvl="2"/>
            <a:r>
              <a:rPr lang="en-US" sz="2000" dirty="0"/>
              <a:t>Age-dependency</a:t>
            </a:r>
          </a:p>
          <a:p>
            <a:pPr lvl="3"/>
            <a:r>
              <a:rPr lang="en-US" sz="1600" dirty="0"/>
              <a:t>gradual “diminution of vital power” with age</a:t>
            </a:r>
          </a:p>
          <a:p>
            <a:pPr lvl="3"/>
            <a:r>
              <a:rPr lang="en-US" sz="1600" dirty="0"/>
              <a:t>accidental completely independent of age</a:t>
            </a:r>
          </a:p>
        </p:txBody>
      </p:sp>
    </p:spTree>
    <p:extLst>
      <p:ext uri="{BB962C8B-B14F-4D97-AF65-F5344CB8AC3E}">
        <p14:creationId xmlns:p14="http://schemas.microsoft.com/office/powerpoint/2010/main" val="36390856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19536" y="1628800"/>
            <a:ext cx="8229600" cy="1540768"/>
          </a:xfrm>
        </p:spPr>
        <p:txBody>
          <a:bodyPr>
            <a:normAutofit/>
          </a:bodyPr>
          <a:lstStyle/>
          <a:p>
            <a:pPr lvl="1"/>
            <a:r>
              <a:rPr lang="en-US" dirty="0"/>
              <a:t>Lexis (1860)</a:t>
            </a:r>
          </a:p>
          <a:p>
            <a:pPr lvl="2"/>
            <a:r>
              <a:rPr lang="en-US" dirty="0"/>
              <a:t>Juvenile, premature, and normal mortality</a:t>
            </a:r>
            <a:endParaRPr lang="en-US" sz="1600" dirty="0"/>
          </a:p>
          <a:p>
            <a:pPr marL="914400" lvl="2" indent="0">
              <a:buNone/>
            </a:pPr>
            <a:endParaRPr lang="en-US" sz="2000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0850" y="1628800"/>
            <a:ext cx="10346768" cy="459419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029146" y="6279704"/>
            <a:ext cx="35313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200" dirty="0"/>
              <a:t>Source: Lexis (1860) </a:t>
            </a:r>
          </a:p>
          <a:p>
            <a:pPr algn="r"/>
            <a:r>
              <a:rPr lang="en-US" sz="1200" i="1" dirty="0"/>
              <a:t>On the Theory of Mass Phenomena in Human Society</a:t>
            </a:r>
            <a:endParaRPr lang="en-US" sz="1200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7E7D69F2-F034-4298-B210-E9DD29E3A6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81200" y="16670"/>
            <a:ext cx="8229600" cy="1143000"/>
          </a:xfrm>
        </p:spPr>
        <p:txBody>
          <a:bodyPr/>
          <a:lstStyle/>
          <a:p>
            <a:r>
              <a:rPr lang="en-US" b="1" dirty="0"/>
              <a:t>Mortality partition</a:t>
            </a:r>
          </a:p>
        </p:txBody>
      </p:sp>
    </p:spTree>
    <p:extLst>
      <p:ext uri="{BB962C8B-B14F-4D97-AF65-F5344CB8AC3E}">
        <p14:creationId xmlns:p14="http://schemas.microsoft.com/office/powerpoint/2010/main" val="235861688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703512" y="1268760"/>
            <a:ext cx="9145016" cy="5328591"/>
          </a:xfrm>
        </p:spPr>
        <p:txBody>
          <a:bodyPr>
            <a:normAutofit/>
          </a:bodyPr>
          <a:lstStyle/>
          <a:p>
            <a:pPr marL="342900" lvl="1" indent="-342900">
              <a:buFont typeface="Arial" panose="020B0604020202020204" pitchFamily="34" charset="0"/>
              <a:buChar char="•"/>
            </a:pPr>
            <a:r>
              <a:rPr lang="en-US" sz="3200" dirty="0"/>
              <a:t>Conceptual partition of mortality challenged several times</a:t>
            </a:r>
          </a:p>
          <a:p>
            <a:pPr lvl="1"/>
            <a:r>
              <a:rPr lang="en-US" dirty="0"/>
              <a:t>deterioration/chance (Gompertz 1825)</a:t>
            </a:r>
          </a:p>
          <a:p>
            <a:pPr lvl="1"/>
            <a:r>
              <a:rPr lang="en-US" dirty="0"/>
              <a:t>normal/premature (Lexis 1877)</a:t>
            </a:r>
          </a:p>
          <a:p>
            <a:pPr lvl="1"/>
            <a:r>
              <a:rPr lang="en-US" dirty="0"/>
              <a:t>senescent/anticipated (Clarke 1950)</a:t>
            </a:r>
          </a:p>
          <a:p>
            <a:pPr lvl="1"/>
            <a:r>
              <a:rPr lang="en-US" dirty="0"/>
              <a:t>endogenous/exogenous (Shryock et al. 1973)</a:t>
            </a:r>
          </a:p>
          <a:p>
            <a:pPr lvl="1"/>
            <a:r>
              <a:rPr lang="en-US" dirty="0"/>
              <a:t>senescent/background (Bongaarts 2005) </a:t>
            </a:r>
          </a:p>
          <a:p>
            <a:pPr lvl="1"/>
            <a:r>
              <a:rPr lang="en-US" dirty="0"/>
              <a:t>intrinsic/extrinsic (Carnes and Olshansky 1997, 2006)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379F1320-15D6-4C0B-9EC3-86E4EA730EEE}"/>
              </a:ext>
            </a:extLst>
          </p:cNvPr>
          <p:cNvSpPr txBox="1">
            <a:spLocks/>
          </p:cNvSpPr>
          <p:nvPr/>
        </p:nvSpPr>
        <p:spPr>
          <a:xfrm>
            <a:off x="1981200" y="16670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/>
              <a:t>Mortality partition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29487251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71464" y="1340768"/>
            <a:ext cx="9289032" cy="5040559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Intrinsic and extrinsic (Carnes and Olshansky 1997, 2006)</a:t>
            </a:r>
          </a:p>
          <a:p>
            <a:pPr lvl="1"/>
            <a:r>
              <a:rPr lang="en-US" b="1" dirty="0"/>
              <a:t>Intrinsic mortality</a:t>
            </a:r>
            <a:r>
              <a:rPr lang="en-US" dirty="0"/>
              <a:t>: either initiated or caused from inside the body, due to failure of the organism function</a:t>
            </a:r>
          </a:p>
          <a:p>
            <a:pPr lvl="1"/>
            <a:r>
              <a:rPr lang="en-US" b="1" dirty="0"/>
              <a:t>Extrinsic mortality:</a:t>
            </a:r>
            <a:r>
              <a:rPr lang="en-US" dirty="0"/>
              <a:t> either initiated or caused from outside the body, due to environmental factors</a:t>
            </a:r>
          </a:p>
          <a:p>
            <a:pPr lvl="1"/>
            <a:endParaRPr lang="en-US" dirty="0"/>
          </a:p>
          <a:p>
            <a:pPr lvl="1"/>
            <a:r>
              <a:rPr lang="en-US" dirty="0"/>
              <a:t>Grey area: fails to recognize the interaction between intrinsic and extrinsic stressors in any death</a:t>
            </a:r>
          </a:p>
          <a:p>
            <a:pPr lvl="2"/>
            <a:r>
              <a:rPr lang="en-US" dirty="0"/>
              <a:t>For instance, most of COVID-19 deaths or Hepatitis C infections</a:t>
            </a:r>
          </a:p>
          <a:p>
            <a:pPr lvl="2"/>
            <a:r>
              <a:rPr lang="en-US" dirty="0"/>
              <a:t>“No sense in partitioning mortality, rather the stressors causing it” (Koopman et al. 2015)</a:t>
            </a:r>
          </a:p>
          <a:p>
            <a:pPr lvl="1"/>
            <a:endParaRPr lang="en-US" dirty="0"/>
          </a:p>
          <a:p>
            <a:pPr lvl="1"/>
            <a:r>
              <a:rPr lang="en-US" dirty="0"/>
              <a:t>“Imperfect partition offers better insights in mortality and better modeling fit than the proposed analyses on all-cause mortality without partition” </a:t>
            </a:r>
            <a:r>
              <a:rPr lang="en-US" sz="2100" i="1" dirty="0"/>
              <a:t>Carnes and Olshansky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6269360D-1756-49CF-9FB9-BD8AEEC9D02E}"/>
              </a:ext>
            </a:extLst>
          </p:cNvPr>
          <p:cNvSpPr txBox="1">
            <a:spLocks/>
          </p:cNvSpPr>
          <p:nvPr/>
        </p:nvSpPr>
        <p:spPr>
          <a:xfrm>
            <a:off x="1981200" y="16670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/>
              <a:t>Mortality partition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32997079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A97BCDF-9B83-4A93-B6C5-DAA54B41C4BC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7608168" y="1623356"/>
            <a:ext cx="4437960" cy="3070472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51384" y="1159670"/>
            <a:ext cx="8229600" cy="5158332"/>
          </a:xfrm>
        </p:spPr>
        <p:txBody>
          <a:bodyPr>
            <a:normAutofit fontScale="85000" lnSpcReduction="20000"/>
          </a:bodyPr>
          <a:lstStyle/>
          <a:p>
            <a:r>
              <a:rPr lang="en-US" b="1" dirty="0"/>
              <a:t>Omran (1971)’s </a:t>
            </a:r>
            <a:r>
              <a:rPr lang="en-US" b="1" i="1" dirty="0"/>
              <a:t>Epidemiological transition theory (ET)</a:t>
            </a:r>
          </a:p>
          <a:p>
            <a:pPr lvl="1"/>
            <a:r>
              <a:rPr lang="en-US" dirty="0"/>
              <a:t>Epidemiological profile of populations</a:t>
            </a:r>
          </a:p>
          <a:p>
            <a:pPr lvl="1"/>
            <a:r>
              <a:rPr lang="en-US" dirty="0"/>
              <a:t>3 stages</a:t>
            </a:r>
          </a:p>
          <a:p>
            <a:pPr lvl="2"/>
            <a:r>
              <a:rPr lang="en-US" b="1" i="1" dirty="0"/>
              <a:t>“The Age of Pestilence and Famine”</a:t>
            </a:r>
          </a:p>
          <a:p>
            <a:pPr lvl="3"/>
            <a:r>
              <a:rPr lang="en-US" dirty="0"/>
              <a:t>High and fluctuating</a:t>
            </a:r>
          </a:p>
          <a:p>
            <a:pPr lvl="3"/>
            <a:r>
              <a:rPr lang="en-US" dirty="0"/>
              <a:t>Infectious diseases, famines, violence</a:t>
            </a:r>
          </a:p>
          <a:p>
            <a:pPr lvl="3"/>
            <a:r>
              <a:rPr lang="en-US" b="1" dirty="0"/>
              <a:t>e</a:t>
            </a:r>
            <a:r>
              <a:rPr lang="en-US" sz="1200" b="1" dirty="0"/>
              <a:t>0</a:t>
            </a:r>
            <a:r>
              <a:rPr lang="en-US" b="1" dirty="0"/>
              <a:t> &lt;30y</a:t>
            </a:r>
          </a:p>
          <a:p>
            <a:pPr lvl="2"/>
            <a:r>
              <a:rPr lang="en-US" b="1" i="1" dirty="0"/>
              <a:t>“The Age of Receding Pandemics”</a:t>
            </a:r>
          </a:p>
          <a:p>
            <a:pPr lvl="3"/>
            <a:r>
              <a:rPr lang="en-US" dirty="0"/>
              <a:t>Increased control over environment: &lt; infections, &lt; famines</a:t>
            </a:r>
          </a:p>
          <a:p>
            <a:pPr lvl="3"/>
            <a:r>
              <a:rPr lang="en-US" dirty="0"/>
              <a:t>Massive reduction of mortality at young ages</a:t>
            </a:r>
          </a:p>
          <a:p>
            <a:pPr lvl="3"/>
            <a:r>
              <a:rPr lang="en-US" b="1" dirty="0"/>
              <a:t>e</a:t>
            </a:r>
            <a:r>
              <a:rPr lang="en-US" sz="1000" b="1" dirty="0"/>
              <a:t>0</a:t>
            </a:r>
            <a:r>
              <a:rPr lang="en-US" b="1" dirty="0"/>
              <a:t> from &lt; 30y → &gt; 50y</a:t>
            </a:r>
          </a:p>
          <a:p>
            <a:pPr lvl="2"/>
            <a:r>
              <a:rPr lang="en-US" b="1" i="1" dirty="0"/>
              <a:t>“The Age of Degenerative and [</a:t>
            </a:r>
            <a:r>
              <a:rPr lang="en-US" b="1" i="1" dirty="0" err="1"/>
              <a:t>hu</a:t>
            </a:r>
            <a:r>
              <a:rPr lang="en-US" b="1" i="1" dirty="0"/>
              <a:t>]Man-Made Diseases”</a:t>
            </a:r>
          </a:p>
          <a:p>
            <a:pPr lvl="3"/>
            <a:r>
              <a:rPr lang="en-US" dirty="0"/>
              <a:t>Degenerative diseases as main killers</a:t>
            </a:r>
          </a:p>
          <a:p>
            <a:pPr lvl="3"/>
            <a:r>
              <a:rPr lang="en-US" dirty="0"/>
              <a:t>Expansion of [hu]man-made diseases</a:t>
            </a:r>
          </a:p>
          <a:p>
            <a:pPr lvl="4"/>
            <a:r>
              <a:rPr lang="en-US" dirty="0"/>
              <a:t>Alcohol, drugs, sexually transmitted, etc.</a:t>
            </a:r>
          </a:p>
          <a:p>
            <a:pPr lvl="3"/>
            <a:r>
              <a:rPr lang="en-US" dirty="0"/>
              <a:t>Stagnation of mortality improvements</a:t>
            </a:r>
          </a:p>
          <a:p>
            <a:pPr lvl="3"/>
            <a:r>
              <a:rPr lang="en-US" b="1" dirty="0"/>
              <a:t>e</a:t>
            </a:r>
            <a:r>
              <a:rPr lang="en-US" sz="1000" b="1" dirty="0"/>
              <a:t>0</a:t>
            </a:r>
            <a:r>
              <a:rPr lang="en-US" b="1" dirty="0"/>
              <a:t> &gt; 50y</a:t>
            </a:r>
          </a:p>
          <a:p>
            <a:pPr lvl="1"/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56CAB61-5ADF-485F-B523-AD97BCE7B57E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491"/>
          <a:stretch/>
        </p:blipFill>
        <p:spPr>
          <a:xfrm>
            <a:off x="7968208" y="4583479"/>
            <a:ext cx="4217763" cy="2301905"/>
          </a:xfrm>
          <a:prstGeom prst="rect">
            <a:avLst/>
          </a:prstGeom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1B4640A-509B-4CA5-88A9-20A353EF77E9}"/>
              </a:ext>
            </a:extLst>
          </p:cNvPr>
          <p:cNvCxnSpPr>
            <a:cxnSpLocks/>
          </p:cNvCxnSpPr>
          <p:nvPr/>
        </p:nvCxnSpPr>
        <p:spPr>
          <a:xfrm flipV="1">
            <a:off x="8256240" y="4046200"/>
            <a:ext cx="2448272" cy="82296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0D92E697-F531-4259-91ED-42E2B1E0F224}"/>
              </a:ext>
            </a:extLst>
          </p:cNvPr>
          <p:cNvCxnSpPr>
            <a:cxnSpLocks/>
          </p:cNvCxnSpPr>
          <p:nvPr/>
        </p:nvCxnSpPr>
        <p:spPr>
          <a:xfrm flipV="1">
            <a:off x="11496600" y="4005064"/>
            <a:ext cx="216024" cy="864096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itle 1">
            <a:extLst>
              <a:ext uri="{FF2B5EF4-FFF2-40B4-BE49-F238E27FC236}">
                <a16:creationId xmlns:a16="http://schemas.microsoft.com/office/drawing/2014/main" id="{60F56F14-6A02-493D-8C03-77AE07892C46}"/>
              </a:ext>
            </a:extLst>
          </p:cNvPr>
          <p:cNvSpPr txBox="1">
            <a:spLocks/>
          </p:cNvSpPr>
          <p:nvPr/>
        </p:nvSpPr>
        <p:spPr>
          <a:xfrm>
            <a:off x="1981200" y="16670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/>
              <a:t>Mortality transitions theories</a:t>
            </a:r>
          </a:p>
        </p:txBody>
      </p:sp>
      <p:sp>
        <p:nvSpPr>
          <p:cNvPr id="7" name="Rectangle 6"/>
          <p:cNvSpPr/>
          <p:nvPr/>
        </p:nvSpPr>
        <p:spPr>
          <a:xfrm>
            <a:off x="8328248" y="1916832"/>
            <a:ext cx="1944216" cy="2129368"/>
          </a:xfrm>
          <a:prstGeom prst="rect">
            <a:avLst/>
          </a:prstGeom>
          <a:noFill/>
          <a:ln w="412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/>
          <p:cNvSpPr/>
          <p:nvPr/>
        </p:nvSpPr>
        <p:spPr>
          <a:xfrm>
            <a:off x="10272464" y="1916832"/>
            <a:ext cx="890632" cy="2129368"/>
          </a:xfrm>
          <a:prstGeom prst="rect">
            <a:avLst/>
          </a:prstGeom>
          <a:noFill/>
          <a:ln w="412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/>
          <p:cNvSpPr/>
          <p:nvPr/>
        </p:nvSpPr>
        <p:spPr>
          <a:xfrm>
            <a:off x="11144944" y="1916832"/>
            <a:ext cx="567680" cy="2129368"/>
          </a:xfrm>
          <a:prstGeom prst="rect">
            <a:avLst/>
          </a:prstGeom>
          <a:noFill/>
          <a:ln w="412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10712896" y="1916832"/>
            <a:ext cx="991344" cy="2129368"/>
          </a:xfrm>
          <a:prstGeom prst="rect">
            <a:avLst/>
          </a:prstGeom>
          <a:noFill/>
          <a:ln w="412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1914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7" grpId="1" animBg="1"/>
      <p:bldP spid="14" grpId="0" animBg="1"/>
      <p:bldP spid="14" grpId="1" animBg="1"/>
      <p:bldP spid="15" grpId="0" animBg="1"/>
      <p:bldP spid="15" grpId="1" animBg="1"/>
      <p:bldP spid="16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010" b="10280"/>
          <a:stretch/>
        </p:blipFill>
        <p:spPr>
          <a:xfrm>
            <a:off x="567107" y="2992160"/>
            <a:ext cx="5593100" cy="3352769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358" t="9010" b="10280"/>
          <a:stretch/>
        </p:blipFill>
        <p:spPr>
          <a:xfrm>
            <a:off x="6576533" y="2992159"/>
            <a:ext cx="5069724" cy="3352770"/>
          </a:xfrm>
          <a:prstGeom prst="rect">
            <a:avLst/>
          </a:prstGeom>
        </p:spPr>
      </p:pic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83432" y="1159670"/>
            <a:ext cx="10297144" cy="1981298"/>
          </a:xfrm>
        </p:spPr>
        <p:txBody>
          <a:bodyPr>
            <a:normAutofit/>
          </a:bodyPr>
          <a:lstStyle/>
          <a:p>
            <a:r>
              <a:rPr lang="en-US" sz="2700" b="1" dirty="0"/>
              <a:t>Omran (1971)’s </a:t>
            </a:r>
            <a:r>
              <a:rPr lang="en-US" sz="2700" b="1" i="1" dirty="0"/>
              <a:t>Epidemiological transition theory (ET)</a:t>
            </a:r>
          </a:p>
          <a:p>
            <a:pPr lvl="1"/>
            <a:r>
              <a:rPr lang="en-US" sz="2400" dirty="0"/>
              <a:t>Factors: socioeconomic conditions, the sanitary revolution, and the medical and public health progress</a:t>
            </a:r>
          </a:p>
          <a:p>
            <a:pPr lvl="1"/>
            <a:r>
              <a:rPr lang="en-US" sz="2400" dirty="0"/>
              <a:t>Different paces around the World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04312" y="6305850"/>
            <a:ext cx="3312368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CA" sz="1100" b="1" dirty="0"/>
              <a:t>Sources</a:t>
            </a:r>
            <a:endParaRPr lang="en-US" sz="1100" b="1" dirty="0"/>
          </a:p>
          <a:p>
            <a:pPr algn="r"/>
            <a:r>
              <a:rPr lang="en-US" sz="1100" dirty="0"/>
              <a:t>- Data: Riley (2005), Clio Infra (2015), UNPD (2019)</a:t>
            </a:r>
          </a:p>
          <a:p>
            <a:pPr algn="r"/>
            <a:r>
              <a:rPr lang="en-US" sz="1100" dirty="0"/>
              <a:t>- Plots: Our World in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663" y="2787620"/>
            <a:ext cx="40908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e</a:t>
            </a:r>
            <a:r>
              <a:rPr lang="en-US" sz="1050" b="1" dirty="0"/>
              <a:t>0</a:t>
            </a:r>
            <a:endParaRPr lang="en-US" sz="2400" b="1" dirty="0"/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D48F56DA-9577-4C46-A8B7-B953C4D04A88}"/>
              </a:ext>
            </a:extLst>
          </p:cNvPr>
          <p:cNvSpPr txBox="1">
            <a:spLocks/>
          </p:cNvSpPr>
          <p:nvPr/>
        </p:nvSpPr>
        <p:spPr>
          <a:xfrm>
            <a:off x="1981200" y="16670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/>
              <a:t>Mortality transitions theories</a:t>
            </a:r>
          </a:p>
        </p:txBody>
      </p:sp>
    </p:spTree>
    <p:extLst>
      <p:ext uri="{BB962C8B-B14F-4D97-AF65-F5344CB8AC3E}">
        <p14:creationId xmlns:p14="http://schemas.microsoft.com/office/powerpoint/2010/main" val="18145532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83432" y="1159670"/>
            <a:ext cx="10297144" cy="1143000"/>
          </a:xfrm>
        </p:spPr>
        <p:txBody>
          <a:bodyPr>
            <a:normAutofit/>
          </a:bodyPr>
          <a:lstStyle/>
          <a:p>
            <a:r>
              <a:rPr lang="en-US" sz="2700" b="1" dirty="0"/>
              <a:t>Omran (1971)’s </a:t>
            </a:r>
            <a:r>
              <a:rPr lang="en-US" sz="2700" b="1" i="1" dirty="0"/>
              <a:t>Epidemiological transition theory (ET)</a:t>
            </a:r>
          </a:p>
          <a:p>
            <a:pPr lvl="1"/>
            <a:r>
              <a:rPr lang="en-US" sz="2400" dirty="0"/>
              <a:t>Different paces around the World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72321" y="3792738"/>
            <a:ext cx="1670498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CA" sz="1100" b="1" dirty="0"/>
              <a:t>Source</a:t>
            </a:r>
            <a:endParaRPr lang="en-US" sz="1100" b="1" dirty="0"/>
          </a:p>
          <a:p>
            <a:pPr algn="r"/>
            <a:r>
              <a:rPr lang="en-US" sz="1100" dirty="0"/>
              <a:t>Vallin and </a:t>
            </a:r>
            <a:r>
              <a:rPr lang="en-US" sz="1100" dirty="0" err="1"/>
              <a:t>Mesle</a:t>
            </a:r>
            <a:r>
              <a:rPr lang="en-US" sz="1100" dirty="0"/>
              <a:t> (2004)</a:t>
            </a: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D48F56DA-9577-4C46-A8B7-B953C4D04A88}"/>
              </a:ext>
            </a:extLst>
          </p:cNvPr>
          <p:cNvSpPr txBox="1">
            <a:spLocks/>
          </p:cNvSpPr>
          <p:nvPr/>
        </p:nvSpPr>
        <p:spPr>
          <a:xfrm>
            <a:off x="1981200" y="16670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/>
              <a:t>Mortality transitions theories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2FAD531-7C73-4DE7-BEEE-E3FFB03C8B5A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3503711" y="2204864"/>
            <a:ext cx="7304659" cy="4422335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5BB58E3-64C3-4A57-B9DB-36B426FB67C1}"/>
              </a:ext>
            </a:extLst>
          </p:cNvPr>
          <p:cNvSpPr txBox="1"/>
          <p:nvPr/>
        </p:nvSpPr>
        <p:spPr>
          <a:xfrm>
            <a:off x="975603" y="2586039"/>
            <a:ext cx="244827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Long-term trends in female life expectancy for sub-Saharan Africa</a:t>
            </a:r>
          </a:p>
        </p:txBody>
      </p:sp>
    </p:spTree>
    <p:extLst>
      <p:ext uri="{BB962C8B-B14F-4D97-AF65-F5344CB8AC3E}">
        <p14:creationId xmlns:p14="http://schemas.microsoft.com/office/powerpoint/2010/main" val="349012938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433" b="5894"/>
          <a:stretch/>
        </p:blipFill>
        <p:spPr>
          <a:xfrm>
            <a:off x="3431704" y="3068960"/>
            <a:ext cx="6829407" cy="3744416"/>
          </a:xfrm>
          <a:prstGeom prst="rect">
            <a:avLst/>
          </a:prstGeom>
        </p:spPr>
      </p:pic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83432" y="1052736"/>
            <a:ext cx="10369152" cy="2692896"/>
          </a:xfrm>
        </p:spPr>
        <p:txBody>
          <a:bodyPr>
            <a:normAutofit/>
          </a:bodyPr>
          <a:lstStyle/>
          <a:p>
            <a:r>
              <a:rPr lang="en-US" sz="2800" b="1" dirty="0"/>
              <a:t>ET </a:t>
            </a:r>
            <a:r>
              <a:rPr lang="en-US" sz="2800" b="1" i="1" dirty="0"/>
              <a:t>→ </a:t>
            </a:r>
            <a:r>
              <a:rPr lang="en-US" sz="2800" dirty="0"/>
              <a:t>Transition from extrinsic to intrinsic mortality as the main killer</a:t>
            </a:r>
          </a:p>
          <a:p>
            <a:pPr lvl="1"/>
            <a:r>
              <a:rPr lang="en-US" sz="2400" dirty="0"/>
              <a:t>Consistent until the late 1960s</a:t>
            </a:r>
          </a:p>
          <a:p>
            <a:pPr lvl="2"/>
            <a:r>
              <a:rPr lang="en-US" sz="2000" dirty="0"/>
              <a:t>Mortality improvements stalled as stated by Omran in the ET</a:t>
            </a:r>
          </a:p>
          <a:p>
            <a:pPr lvl="2"/>
            <a:r>
              <a:rPr lang="en-US" sz="2000" b="1" dirty="0"/>
              <a:t>But…</a:t>
            </a:r>
            <a:r>
              <a:rPr lang="en-US" sz="2000" dirty="0"/>
              <a:t> cardiovascular revolution happened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49381" y="3695774"/>
            <a:ext cx="1981699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b="1" dirty="0"/>
              <a:t>US death rates by cause</a:t>
            </a:r>
          </a:p>
          <a:p>
            <a:pPr algn="r"/>
            <a:r>
              <a:rPr lang="fr-CA" sz="1200" dirty="0"/>
              <a:t>Sources</a:t>
            </a:r>
            <a:endParaRPr lang="en-US" sz="1200" dirty="0"/>
          </a:p>
          <a:p>
            <a:pPr algn="r"/>
            <a:r>
              <a:rPr lang="en-US" sz="1200" dirty="0"/>
              <a:t>- Data: CDC</a:t>
            </a:r>
          </a:p>
          <a:p>
            <a:pPr algn="r"/>
            <a:r>
              <a:rPr lang="en-US" sz="1200" dirty="0"/>
              <a:t>- Plot: Our World in Data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B1649054-284D-4C69-BE51-FC85958F18AD}"/>
              </a:ext>
            </a:extLst>
          </p:cNvPr>
          <p:cNvSpPr txBox="1">
            <a:spLocks/>
          </p:cNvSpPr>
          <p:nvPr/>
        </p:nvSpPr>
        <p:spPr>
          <a:xfrm>
            <a:off x="1981200" y="16670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/>
              <a:t>Mortality transitions theories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70278E5-21B0-4703-8C8A-044E075FF987}"/>
              </a:ext>
            </a:extLst>
          </p:cNvPr>
          <p:cNvCxnSpPr>
            <a:cxnSpLocks/>
          </p:cNvCxnSpPr>
          <p:nvPr/>
        </p:nvCxnSpPr>
        <p:spPr>
          <a:xfrm flipV="1">
            <a:off x="7320136" y="3681983"/>
            <a:ext cx="0" cy="285172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1F876E26-9A04-413F-A978-4E4C5110407F}"/>
              </a:ext>
            </a:extLst>
          </p:cNvPr>
          <p:cNvSpPr/>
          <p:nvPr/>
        </p:nvSpPr>
        <p:spPr>
          <a:xfrm>
            <a:off x="7320136" y="3632125"/>
            <a:ext cx="1296144" cy="29015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34030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47428" y="1190782"/>
            <a:ext cx="10297144" cy="4525963"/>
          </a:xfrm>
        </p:spPr>
        <p:txBody>
          <a:bodyPr>
            <a:normAutofit/>
          </a:bodyPr>
          <a:lstStyle/>
          <a:p>
            <a:r>
              <a:rPr lang="en-US" sz="2800" dirty="0"/>
              <a:t>4</a:t>
            </a:r>
            <a:r>
              <a:rPr lang="en-US" sz="2800" baseline="30000" dirty="0"/>
              <a:t>th</a:t>
            </a:r>
            <a:r>
              <a:rPr lang="en-US" sz="2800" dirty="0"/>
              <a:t> stage: “The Age of Delayed Degenerative Diseases” </a:t>
            </a:r>
            <a:r>
              <a:rPr lang="en-US" sz="2000" dirty="0"/>
              <a:t>(Olshansky and Ault, 1986)</a:t>
            </a:r>
            <a:endParaRPr lang="en-US" sz="2800" dirty="0"/>
          </a:p>
          <a:p>
            <a:pPr lvl="1"/>
            <a:r>
              <a:rPr lang="en-US" dirty="0"/>
              <a:t>Ranking of the principal causes of death was  not modified</a:t>
            </a:r>
          </a:p>
          <a:p>
            <a:pPr lvl="1"/>
            <a:r>
              <a:rPr lang="en-US" dirty="0"/>
              <a:t>Risk of dying from degenerative diseases </a:t>
            </a:r>
            <a:r>
              <a:rPr lang="en-US" b="1" dirty="0"/>
              <a:t>shifted to older ages</a:t>
            </a:r>
          </a:p>
          <a:p>
            <a:pPr lvl="1"/>
            <a:r>
              <a:rPr lang="en-US" dirty="0"/>
              <a:t>Gradual reduction of deaths from [</a:t>
            </a:r>
            <a:r>
              <a:rPr lang="en-US" dirty="0" err="1"/>
              <a:t>hu</a:t>
            </a:r>
            <a:r>
              <a:rPr lang="en-US" dirty="0"/>
              <a:t>]man-made diseases</a:t>
            </a:r>
          </a:p>
          <a:p>
            <a:pPr lvl="3"/>
            <a:endParaRPr lang="en-US" dirty="0"/>
          </a:p>
          <a:p>
            <a:pPr lvl="1"/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BE800BF-1F36-44C7-A73C-60BF33D998BD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491"/>
          <a:stretch/>
        </p:blipFill>
        <p:spPr>
          <a:xfrm>
            <a:off x="5212845" y="3645024"/>
            <a:ext cx="5851707" cy="319365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955270E-9E90-48B1-91B6-C38F0B149C3B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623392" y="3794704"/>
            <a:ext cx="4454548" cy="3081949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D449E14E-AEFF-4BE0-ACE1-D13F2F676F1C}"/>
              </a:ext>
            </a:extLst>
          </p:cNvPr>
          <p:cNvSpPr txBox="1">
            <a:spLocks/>
          </p:cNvSpPr>
          <p:nvPr/>
        </p:nvSpPr>
        <p:spPr>
          <a:xfrm>
            <a:off x="1981200" y="16670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/>
              <a:t>Mortality transitions theories</a:t>
            </a:r>
          </a:p>
        </p:txBody>
      </p:sp>
    </p:spTree>
    <p:extLst>
      <p:ext uri="{BB962C8B-B14F-4D97-AF65-F5344CB8AC3E}">
        <p14:creationId xmlns:p14="http://schemas.microsoft.com/office/powerpoint/2010/main" val="8737386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0A57BC5-D466-4562-9C81-105782D9C065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491"/>
          <a:stretch/>
        </p:blipFill>
        <p:spPr>
          <a:xfrm>
            <a:off x="0" y="147499"/>
            <a:ext cx="12025336" cy="6563001"/>
          </a:xfrm>
          <a:prstGeom prst="rect">
            <a:avLst/>
          </a:prstGeom>
        </p:spPr>
      </p:pic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B97CB47E-E1E9-467F-A320-13242BEC1375}"/>
              </a:ext>
            </a:extLst>
          </p:cNvPr>
          <p:cNvCxnSpPr>
            <a:cxnSpLocks/>
          </p:cNvCxnSpPr>
          <p:nvPr/>
        </p:nvCxnSpPr>
        <p:spPr>
          <a:xfrm flipV="1">
            <a:off x="8256240" y="980728"/>
            <a:ext cx="0" cy="5040560"/>
          </a:xfrm>
          <a:prstGeom prst="line">
            <a:avLst/>
          </a:prstGeom>
          <a:ln w="793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B2363E01-155A-4313-84F2-6BC22F92FB0D}"/>
              </a:ext>
            </a:extLst>
          </p:cNvPr>
          <p:cNvSpPr txBox="1"/>
          <p:nvPr/>
        </p:nvSpPr>
        <p:spPr>
          <a:xfrm>
            <a:off x="8355936" y="1127865"/>
            <a:ext cx="10606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accent6">
                    <a:lumMod val="75000"/>
                  </a:schemeClr>
                </a:solidFill>
              </a:rPr>
              <a:t>4th</a:t>
            </a:r>
            <a:r>
              <a:rPr lang="en-US" dirty="0"/>
              <a:t> </a:t>
            </a:r>
            <a:r>
              <a:rPr lang="en-US" b="1" dirty="0">
                <a:solidFill>
                  <a:schemeClr val="accent6">
                    <a:lumMod val="75000"/>
                  </a:schemeClr>
                </a:solidFill>
              </a:rPr>
              <a:t>stage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9F0EA0D-4EF9-45AE-905E-8404E8F8EAFE}"/>
              </a:ext>
            </a:extLst>
          </p:cNvPr>
          <p:cNvSpPr txBox="1"/>
          <p:nvPr/>
        </p:nvSpPr>
        <p:spPr>
          <a:xfrm>
            <a:off x="6525636" y="1121616"/>
            <a:ext cx="15865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accent6">
                    <a:lumMod val="75000"/>
                  </a:schemeClr>
                </a:solidFill>
              </a:rPr>
              <a:t>Omran’s world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6C0CF94B-7435-418A-8100-934F103464AB}"/>
              </a:ext>
            </a:extLst>
          </p:cNvPr>
          <p:cNvCxnSpPr/>
          <p:nvPr/>
        </p:nvCxnSpPr>
        <p:spPr>
          <a:xfrm>
            <a:off x="8355936" y="1556792"/>
            <a:ext cx="1060611" cy="0"/>
          </a:xfrm>
          <a:prstGeom prst="straightConnector1">
            <a:avLst/>
          </a:prstGeom>
          <a:ln w="4445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8B0BF7B3-7C47-460A-8CC0-1877783A9E34}"/>
              </a:ext>
            </a:extLst>
          </p:cNvPr>
          <p:cNvCxnSpPr>
            <a:cxnSpLocks/>
          </p:cNvCxnSpPr>
          <p:nvPr/>
        </p:nvCxnSpPr>
        <p:spPr>
          <a:xfrm flipH="1">
            <a:off x="7018121" y="1556792"/>
            <a:ext cx="1044184" cy="0"/>
          </a:xfrm>
          <a:prstGeom prst="straightConnector1">
            <a:avLst/>
          </a:prstGeom>
          <a:ln w="4445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 1"/>
          <p:cNvSpPr/>
          <p:nvPr/>
        </p:nvSpPr>
        <p:spPr>
          <a:xfrm>
            <a:off x="8256240" y="147499"/>
            <a:ext cx="3744416" cy="644985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33056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47428" y="1190782"/>
            <a:ext cx="10297144" cy="4830506"/>
          </a:xfrm>
        </p:spPr>
        <p:txBody>
          <a:bodyPr>
            <a:normAutofit/>
          </a:bodyPr>
          <a:lstStyle/>
          <a:p>
            <a:r>
              <a:rPr lang="en-US" sz="2800" dirty="0"/>
              <a:t>5</a:t>
            </a:r>
            <a:r>
              <a:rPr lang="en-US" sz="2800" baseline="30000" dirty="0"/>
              <a:t>th</a:t>
            </a:r>
            <a:r>
              <a:rPr lang="en-US" sz="2800" dirty="0"/>
              <a:t> stage: “The Re-emergence Infectious and Parasitic Diseases” </a:t>
            </a:r>
            <a:r>
              <a:rPr lang="en-US" sz="1800" dirty="0"/>
              <a:t>(Olshansky et al., 1998)</a:t>
            </a:r>
            <a:endParaRPr lang="en-US" sz="2800" dirty="0"/>
          </a:p>
          <a:p>
            <a:pPr lvl="1"/>
            <a:r>
              <a:rPr lang="en-US" sz="2400" dirty="0"/>
              <a:t>Rapid spread of new and preexistent infectious and parasitic diseases since the last quarter of the 20</a:t>
            </a:r>
            <a:r>
              <a:rPr lang="en-US" sz="2400" baseline="30000" dirty="0"/>
              <a:t>th</a:t>
            </a:r>
            <a:r>
              <a:rPr lang="en-US" sz="2400" dirty="0"/>
              <a:t> century</a:t>
            </a:r>
          </a:p>
          <a:p>
            <a:pPr lvl="2"/>
            <a:r>
              <a:rPr lang="en-US" sz="2000" dirty="0"/>
              <a:t>HIV, Hepatitis C, Measles, Malaria, Ebola, Yellow fever, Influenza, Corona, multi-drug-resistant organisms (</a:t>
            </a:r>
            <a:r>
              <a:rPr lang="en-US" sz="2000" i="1" dirty="0"/>
              <a:t>superbugs</a:t>
            </a:r>
            <a:r>
              <a:rPr lang="en-US" sz="2000" dirty="0"/>
              <a:t>)</a:t>
            </a:r>
          </a:p>
          <a:p>
            <a:pPr lvl="1"/>
            <a:r>
              <a:rPr lang="en-US" sz="2400" dirty="0"/>
              <a:t>Most of them preventable with the available technology</a:t>
            </a:r>
          </a:p>
          <a:p>
            <a:pPr lvl="1"/>
            <a:r>
              <a:rPr lang="en-US" sz="2400" dirty="0"/>
              <a:t>Limitations are related mostly to </a:t>
            </a:r>
          </a:p>
          <a:p>
            <a:pPr lvl="2"/>
            <a:r>
              <a:rPr lang="en-US" sz="2000" dirty="0"/>
              <a:t>Inequality (in sanitation and access to medical services)</a:t>
            </a:r>
          </a:p>
          <a:p>
            <a:pPr lvl="2"/>
            <a:r>
              <a:rPr lang="en-US" sz="2000" dirty="0"/>
              <a:t>Demographic factors (population ageing, growth and movement)</a:t>
            </a:r>
          </a:p>
          <a:p>
            <a:pPr lvl="2"/>
            <a:r>
              <a:rPr lang="en-US" sz="2000" dirty="0"/>
              <a:t>Industrial processes (massive (</a:t>
            </a:r>
            <a:r>
              <a:rPr lang="en-US" sz="2000" dirty="0" err="1"/>
              <a:t>mis</a:t>
            </a:r>
            <a:r>
              <a:rPr lang="en-US" sz="2000" dirty="0"/>
              <a:t>)use of antibiotics in food production), and deterioration of the environment 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D449E14E-AEFF-4BE0-ACE1-D13F2F676F1C}"/>
              </a:ext>
            </a:extLst>
          </p:cNvPr>
          <p:cNvSpPr txBox="1">
            <a:spLocks/>
          </p:cNvSpPr>
          <p:nvPr/>
        </p:nvSpPr>
        <p:spPr>
          <a:xfrm>
            <a:off x="1981200" y="16670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/>
              <a:t>Mortality transitions theories</a:t>
            </a:r>
          </a:p>
        </p:txBody>
      </p:sp>
    </p:spTree>
    <p:extLst>
      <p:ext uri="{BB962C8B-B14F-4D97-AF65-F5344CB8AC3E}">
        <p14:creationId xmlns:p14="http://schemas.microsoft.com/office/powerpoint/2010/main" val="416419372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11424" y="1211610"/>
            <a:ext cx="10441159" cy="532859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500" b="1" i="1" dirty="0"/>
              <a:t>Revision of the Epidemiological Transition </a:t>
            </a:r>
            <a:r>
              <a:rPr lang="en-US" sz="2200" b="1" dirty="0"/>
              <a:t>(</a:t>
            </a:r>
            <a:r>
              <a:rPr lang="en-US" sz="2200" b="1" dirty="0" err="1"/>
              <a:t>Frenk</a:t>
            </a:r>
            <a:r>
              <a:rPr lang="en-US" sz="2200" b="1" dirty="0"/>
              <a:t> et al. 1991)</a:t>
            </a:r>
            <a:endParaRPr lang="en-US" sz="3500" b="1" dirty="0"/>
          </a:p>
          <a:p>
            <a:r>
              <a:rPr lang="en-US" sz="2800" b="1" i="1" dirty="0"/>
              <a:t>Health transition</a:t>
            </a:r>
          </a:p>
          <a:p>
            <a:pPr lvl="1"/>
            <a:r>
              <a:rPr lang="en-US" sz="2400" dirty="0"/>
              <a:t>Transition of </a:t>
            </a:r>
            <a:r>
              <a:rPr lang="en-US" sz="2400" i="1" dirty="0"/>
              <a:t>health conditions</a:t>
            </a:r>
            <a:r>
              <a:rPr lang="en-US" sz="2400" dirty="0"/>
              <a:t> = </a:t>
            </a:r>
            <a:r>
              <a:rPr lang="en-US" sz="2400" i="1" dirty="0"/>
              <a:t>epidemiological</a:t>
            </a:r>
          </a:p>
          <a:p>
            <a:pPr lvl="1"/>
            <a:r>
              <a:rPr lang="en-US" sz="2400" dirty="0"/>
              <a:t>Transition of </a:t>
            </a:r>
            <a:r>
              <a:rPr lang="en-US" sz="2400" i="1" dirty="0"/>
              <a:t>health attention</a:t>
            </a:r>
            <a:r>
              <a:rPr lang="en-US" sz="2400" dirty="0"/>
              <a:t> = social response</a:t>
            </a:r>
          </a:p>
          <a:p>
            <a:r>
              <a:rPr lang="en-US" sz="2800" dirty="0"/>
              <a:t>Epidemiological transition from different perspectives</a:t>
            </a:r>
          </a:p>
          <a:p>
            <a:pPr lvl="1"/>
            <a:r>
              <a:rPr lang="en-US" sz="2400" dirty="0"/>
              <a:t>From high-risk short-term diseases (acute events) toward those that people have to live with (chronic processes)</a:t>
            </a:r>
          </a:p>
          <a:p>
            <a:pPr lvl="1"/>
            <a:r>
              <a:rPr lang="en-US" sz="2400" dirty="0"/>
              <a:t>From predominance of mortality to morbidity</a:t>
            </a:r>
            <a:endParaRPr lang="en-US" dirty="0"/>
          </a:p>
          <a:p>
            <a:pPr lvl="1"/>
            <a:r>
              <a:rPr lang="en-US" sz="2400" dirty="0"/>
              <a:t>Not necessarily progress</a:t>
            </a:r>
          </a:p>
          <a:p>
            <a:pPr lvl="2"/>
            <a:r>
              <a:rPr lang="en-US" sz="2000" dirty="0"/>
              <a:t>Several emergent diseases as consequence of “deficient modes of industrialization, urbanization and mass consumerism…”</a:t>
            </a:r>
          </a:p>
          <a:p>
            <a:pPr lvl="2"/>
            <a:r>
              <a:rPr lang="en-US" dirty="0"/>
              <a:t>Do not have to be repeated by other countries</a:t>
            </a:r>
            <a:endParaRPr lang="en-US" sz="2000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F925F401-3AFE-454F-8A37-6702E09287FF}"/>
              </a:ext>
            </a:extLst>
          </p:cNvPr>
          <p:cNvSpPr txBox="1">
            <a:spLocks/>
          </p:cNvSpPr>
          <p:nvPr/>
        </p:nvSpPr>
        <p:spPr>
          <a:xfrm>
            <a:off x="1981200" y="16670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/>
              <a:t>Mortality transitions theories</a:t>
            </a:r>
          </a:p>
        </p:txBody>
      </p:sp>
    </p:spTree>
    <p:extLst>
      <p:ext uri="{BB962C8B-B14F-4D97-AF65-F5344CB8AC3E}">
        <p14:creationId xmlns:p14="http://schemas.microsoft.com/office/powerpoint/2010/main" val="315140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95400" y="1268760"/>
            <a:ext cx="10657183" cy="5328592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3500" b="1" i="1" dirty="0"/>
              <a:t>Epidemiologic transition in Latin America </a:t>
            </a:r>
            <a:r>
              <a:rPr lang="en-US" sz="2200" b="1" dirty="0"/>
              <a:t>(</a:t>
            </a:r>
            <a:r>
              <a:rPr lang="en-US" sz="2200" b="1" dirty="0" err="1"/>
              <a:t>Frenk</a:t>
            </a:r>
            <a:r>
              <a:rPr lang="en-US" sz="2200" b="1" dirty="0"/>
              <a:t> et al. 1991)</a:t>
            </a:r>
            <a:endParaRPr lang="en-US" sz="3500" b="1" dirty="0"/>
          </a:p>
          <a:p>
            <a:r>
              <a:rPr lang="en-US" sz="2800" dirty="0"/>
              <a:t>Critic to the modernist approach of transition</a:t>
            </a:r>
          </a:p>
          <a:p>
            <a:pPr lvl="1"/>
            <a:r>
              <a:rPr lang="en-US" sz="2600" dirty="0"/>
              <a:t>Lineal and unidirectional process (stages)</a:t>
            </a:r>
          </a:p>
          <a:p>
            <a:pPr lvl="1"/>
            <a:r>
              <a:rPr lang="en-US" sz="2600" dirty="0"/>
              <a:t>Although Omran acknowledges different models, they refer to differences in the </a:t>
            </a:r>
            <a:r>
              <a:rPr lang="en-US" sz="2600" i="1" dirty="0"/>
              <a:t>when </a:t>
            </a:r>
            <a:r>
              <a:rPr lang="en-US" sz="2600" dirty="0"/>
              <a:t>but not in the </a:t>
            </a:r>
            <a:r>
              <a:rPr lang="en-US" sz="2600" i="1" dirty="0"/>
              <a:t>how</a:t>
            </a:r>
          </a:p>
          <a:p>
            <a:r>
              <a:rPr lang="en-US" sz="2800" dirty="0"/>
              <a:t>Latin America as example</a:t>
            </a:r>
          </a:p>
          <a:p>
            <a:pPr lvl="1"/>
            <a:r>
              <a:rPr lang="en-US" sz="2600" dirty="0"/>
              <a:t>Huge heterogeneity between and within countries</a:t>
            </a:r>
          </a:p>
          <a:p>
            <a:pPr lvl="1"/>
            <a:r>
              <a:rPr lang="en-US" sz="2600" dirty="0"/>
              <a:t>3 main groups </a:t>
            </a:r>
          </a:p>
          <a:p>
            <a:pPr lvl="2"/>
            <a:r>
              <a:rPr lang="en-US" dirty="0"/>
              <a:t>Advanced stage of transition (e.g., Cuba, Costa Rica, and Chile)</a:t>
            </a:r>
          </a:p>
          <a:p>
            <a:pPr lvl="2"/>
            <a:r>
              <a:rPr lang="en-US" dirty="0"/>
              <a:t>Initial stage of transition (e.g., </a:t>
            </a:r>
            <a:r>
              <a:rPr lang="en-US" dirty="0" err="1"/>
              <a:t>Haití</a:t>
            </a:r>
            <a:r>
              <a:rPr lang="en-US" dirty="0"/>
              <a:t>, Bolivia, and </a:t>
            </a:r>
            <a:r>
              <a:rPr lang="en-US" dirty="0" err="1"/>
              <a:t>Perú</a:t>
            </a:r>
            <a:r>
              <a:rPr lang="en-US" dirty="0"/>
              <a:t>)</a:t>
            </a:r>
          </a:p>
          <a:p>
            <a:pPr lvl="2"/>
            <a:r>
              <a:rPr lang="en-US" dirty="0"/>
              <a:t>New experiences of transition, that do not follow the ET model: </a:t>
            </a:r>
            <a:r>
              <a:rPr lang="en-US" i="1" dirty="0"/>
              <a:t>Extended polarized model </a:t>
            </a:r>
            <a:r>
              <a:rPr lang="en-US" dirty="0"/>
              <a:t>(e.g., Mexico and Colombia)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F925F401-3AFE-454F-8A37-6702E09287FF}"/>
              </a:ext>
            </a:extLst>
          </p:cNvPr>
          <p:cNvSpPr txBox="1">
            <a:spLocks/>
          </p:cNvSpPr>
          <p:nvPr/>
        </p:nvSpPr>
        <p:spPr>
          <a:xfrm>
            <a:off x="1981200" y="16670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/>
              <a:t>Mortality transitions theories</a:t>
            </a:r>
          </a:p>
        </p:txBody>
      </p:sp>
    </p:spTree>
    <p:extLst>
      <p:ext uri="{BB962C8B-B14F-4D97-AF65-F5344CB8AC3E}">
        <p14:creationId xmlns:p14="http://schemas.microsoft.com/office/powerpoint/2010/main" val="26167437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95400" y="1268760"/>
            <a:ext cx="10585175" cy="5328592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sz="3500" b="1" i="1" dirty="0"/>
              <a:t>Epidemiologic transition in Latin America </a:t>
            </a:r>
            <a:r>
              <a:rPr lang="en-US" sz="2200" b="1" dirty="0"/>
              <a:t>(</a:t>
            </a:r>
            <a:r>
              <a:rPr lang="en-US" sz="2200" b="1" dirty="0" err="1"/>
              <a:t>Frenk</a:t>
            </a:r>
            <a:r>
              <a:rPr lang="en-US" sz="2200" b="1" dirty="0"/>
              <a:t> et al. 1991)</a:t>
            </a:r>
            <a:endParaRPr lang="en-US" sz="3500" b="1" dirty="0"/>
          </a:p>
          <a:p>
            <a:r>
              <a:rPr lang="en-US" i="1" dirty="0"/>
              <a:t>Extended polarized model</a:t>
            </a:r>
            <a:endParaRPr lang="en-US" dirty="0"/>
          </a:p>
          <a:p>
            <a:pPr lvl="1"/>
            <a:r>
              <a:rPr lang="en-US" dirty="0"/>
              <a:t>Stage overlapping </a:t>
            </a:r>
          </a:p>
          <a:p>
            <a:pPr lvl="2"/>
            <a:r>
              <a:rPr lang="en-US" dirty="0"/>
              <a:t>High incidence of pre- and post transition diseases</a:t>
            </a:r>
          </a:p>
          <a:p>
            <a:pPr lvl="1"/>
            <a:r>
              <a:rPr lang="en-US" dirty="0"/>
              <a:t>Counter-transition </a:t>
            </a:r>
          </a:p>
          <a:p>
            <a:pPr lvl="2"/>
            <a:r>
              <a:rPr lang="en-US" dirty="0"/>
              <a:t>Resurgence of infectious diseases previously under control (e.g., measles)</a:t>
            </a:r>
          </a:p>
          <a:p>
            <a:pPr lvl="1"/>
            <a:r>
              <a:rPr lang="en-US" dirty="0"/>
              <a:t>Prolonged transition</a:t>
            </a:r>
          </a:p>
          <a:p>
            <a:pPr lvl="2"/>
            <a:r>
              <a:rPr lang="en-US" dirty="0"/>
              <a:t>Stagnation in mixed morbidity processes</a:t>
            </a:r>
          </a:p>
          <a:p>
            <a:pPr lvl="1"/>
            <a:r>
              <a:rPr lang="en-US" dirty="0"/>
              <a:t>Epidemiologic polarization</a:t>
            </a:r>
          </a:p>
          <a:p>
            <a:pPr lvl="2"/>
            <a:r>
              <a:rPr lang="en-US" dirty="0"/>
              <a:t>Huge inequalities within and between countries</a:t>
            </a:r>
          </a:p>
          <a:p>
            <a:r>
              <a:rPr lang="en-US" dirty="0"/>
              <a:t>Not the same group suffering from mixed morbidity, but very unequal groups in different stages of transition...</a:t>
            </a:r>
          </a:p>
          <a:p>
            <a:pPr lvl="1"/>
            <a:r>
              <a:rPr lang="en-US" i="1" dirty="0"/>
              <a:t>Rural-urban opposition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F925F401-3AFE-454F-8A37-6702E09287FF}"/>
              </a:ext>
            </a:extLst>
          </p:cNvPr>
          <p:cNvSpPr txBox="1">
            <a:spLocks/>
          </p:cNvSpPr>
          <p:nvPr/>
        </p:nvSpPr>
        <p:spPr>
          <a:xfrm>
            <a:off x="1981200" y="16670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/>
              <a:t>Mortality transitions theories</a:t>
            </a:r>
          </a:p>
        </p:txBody>
      </p:sp>
    </p:spTree>
    <p:extLst>
      <p:ext uri="{BB962C8B-B14F-4D97-AF65-F5344CB8AC3E}">
        <p14:creationId xmlns:p14="http://schemas.microsoft.com/office/powerpoint/2010/main" val="36798467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9416" y="1268760"/>
            <a:ext cx="10801199" cy="5328592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3600" b="1" i="1" dirty="0"/>
              <a:t>Health</a:t>
            </a:r>
            <a:r>
              <a:rPr lang="en-US" sz="3500" b="1" i="1" dirty="0"/>
              <a:t> transition theory </a:t>
            </a:r>
            <a:r>
              <a:rPr lang="en-US" sz="2200" b="1" dirty="0"/>
              <a:t>(Meslé and Vallin and 2000, 2004)</a:t>
            </a:r>
            <a:endParaRPr lang="en-US" sz="3500" b="1" dirty="0"/>
          </a:p>
          <a:p>
            <a:r>
              <a:rPr lang="en-US" dirty="0"/>
              <a:t>Based on </a:t>
            </a:r>
            <a:r>
              <a:rPr lang="en-US" dirty="0" err="1"/>
              <a:t>Frenk’s</a:t>
            </a:r>
            <a:r>
              <a:rPr lang="en-US" dirty="0"/>
              <a:t> revision of the Epidemiological Transition </a:t>
            </a:r>
          </a:p>
          <a:p>
            <a:r>
              <a:rPr lang="en-US" dirty="0"/>
              <a:t>Integrates:</a:t>
            </a:r>
          </a:p>
          <a:p>
            <a:pPr lvl="1"/>
            <a:r>
              <a:rPr lang="en-US" dirty="0"/>
              <a:t>Epidemiological profile of populations </a:t>
            </a:r>
          </a:p>
          <a:p>
            <a:pPr lvl="1"/>
            <a:r>
              <a:rPr lang="en-US" dirty="0"/>
              <a:t>Response of populations to the health situation</a:t>
            </a:r>
          </a:p>
          <a:p>
            <a:pPr lvl="2"/>
            <a:r>
              <a:rPr lang="en-US" sz="2200" dirty="0"/>
              <a:t>Factors behind increases in </a:t>
            </a:r>
            <a:r>
              <a:rPr lang="en-US" sz="2200" b="1" dirty="0"/>
              <a:t>e</a:t>
            </a:r>
            <a:r>
              <a:rPr lang="en-US" sz="1600" b="1" dirty="0"/>
              <a:t>0</a:t>
            </a:r>
            <a:r>
              <a:rPr lang="en-US" sz="2200" dirty="0"/>
              <a:t> – gradual “control” of health risk factors</a:t>
            </a:r>
          </a:p>
          <a:p>
            <a:r>
              <a:rPr lang="en-US" sz="2900" dirty="0"/>
              <a:t>Transitions as a </a:t>
            </a:r>
            <a:r>
              <a:rPr lang="en-US" sz="2900" b="1" dirty="0"/>
              <a:t>sequence of divergence-convergence processes</a:t>
            </a:r>
          </a:p>
          <a:p>
            <a:pPr lvl="1"/>
            <a:r>
              <a:rPr lang="en-US" sz="2500" dirty="0"/>
              <a:t>For each new potential improvement, the most favored segments of the population benefit the most of it, giving start to a </a:t>
            </a:r>
            <a:r>
              <a:rPr lang="en-US" sz="2500" i="1" dirty="0"/>
              <a:t>divergence process</a:t>
            </a:r>
          </a:p>
          <a:p>
            <a:pPr lvl="1"/>
            <a:r>
              <a:rPr lang="en-US" sz="2500" dirty="0"/>
              <a:t>Then, when the rest of the population access to that improvement, a </a:t>
            </a:r>
            <a:r>
              <a:rPr lang="en-US" sz="2500" i="1" dirty="0"/>
              <a:t>convergence process </a:t>
            </a:r>
            <a:r>
              <a:rPr lang="en-US" sz="2500" dirty="0"/>
              <a:t>starts</a:t>
            </a:r>
          </a:p>
          <a:p>
            <a:pPr lvl="2"/>
            <a:r>
              <a:rPr lang="en-US" sz="2100" dirty="0"/>
              <a:t>Similar perspective proposed by Angus Deaton 10 years later (The Great Escape, 2013)</a:t>
            </a:r>
          </a:p>
          <a:p>
            <a:pPr lvl="1"/>
            <a:endParaRPr lang="en-US" sz="2500" dirty="0"/>
          </a:p>
          <a:p>
            <a:pPr lvl="1"/>
            <a:endParaRPr lang="en-US" sz="2500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F925F401-3AFE-454F-8A37-6702E09287FF}"/>
              </a:ext>
            </a:extLst>
          </p:cNvPr>
          <p:cNvSpPr txBox="1">
            <a:spLocks/>
          </p:cNvSpPr>
          <p:nvPr/>
        </p:nvSpPr>
        <p:spPr>
          <a:xfrm>
            <a:off x="1981200" y="16670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/>
              <a:t>Mortality transitions theories</a:t>
            </a:r>
          </a:p>
        </p:txBody>
      </p:sp>
    </p:spTree>
    <p:extLst>
      <p:ext uri="{BB962C8B-B14F-4D97-AF65-F5344CB8AC3E}">
        <p14:creationId xmlns:p14="http://schemas.microsoft.com/office/powerpoint/2010/main" val="9108476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27449" y="1268760"/>
            <a:ext cx="10081119" cy="18002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600" b="1" i="1" dirty="0"/>
              <a:t>Health</a:t>
            </a:r>
            <a:r>
              <a:rPr lang="en-US" sz="3500" b="1" i="1" dirty="0"/>
              <a:t> transition theory </a:t>
            </a:r>
            <a:r>
              <a:rPr lang="en-US" sz="2200" b="1" dirty="0"/>
              <a:t>(Meslé and Vallin and 2000, 2004)</a:t>
            </a:r>
            <a:endParaRPr lang="en-US" sz="3500" b="1" dirty="0"/>
          </a:p>
          <a:p>
            <a:r>
              <a:rPr lang="en-US" sz="2900" dirty="0"/>
              <a:t>Integrates Omran’s original Epidemiological Transition theory as the first health transition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F925F401-3AFE-454F-8A37-6702E09287FF}"/>
              </a:ext>
            </a:extLst>
          </p:cNvPr>
          <p:cNvSpPr txBox="1">
            <a:spLocks/>
          </p:cNvSpPr>
          <p:nvPr/>
        </p:nvSpPr>
        <p:spPr>
          <a:xfrm>
            <a:off x="1981200" y="16670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/>
              <a:t>Mortality transitions theories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6312024" y="2420888"/>
            <a:ext cx="5339868" cy="4275916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2" name="TextBox 1"/>
          <p:cNvSpPr txBox="1"/>
          <p:nvPr/>
        </p:nvSpPr>
        <p:spPr>
          <a:xfrm>
            <a:off x="1146660" y="3068960"/>
            <a:ext cx="5040361" cy="24314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SzPct val="70000"/>
              <a:buFont typeface="Courier New" panose="02070309020205020404" pitchFamily="49" charset="0"/>
              <a:buChar char="o"/>
            </a:pPr>
            <a:r>
              <a:rPr lang="en-US" sz="2800" dirty="0"/>
              <a:t>Vanquishing famines and infectious diseases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dirty="0"/>
              <a:t>First divergence-convergence process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dirty="0"/>
              <a:t>Consistent in industrialized countries until the 1960s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16523" y="6093296"/>
            <a:ext cx="1670498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CA" sz="1100" b="1" dirty="0"/>
              <a:t>Source</a:t>
            </a:r>
            <a:endParaRPr lang="en-US" sz="1100" b="1" dirty="0"/>
          </a:p>
          <a:p>
            <a:pPr algn="r"/>
            <a:r>
              <a:rPr lang="en-US" sz="1100" dirty="0"/>
              <a:t>Vallin and </a:t>
            </a:r>
            <a:r>
              <a:rPr lang="en-US" sz="1100" dirty="0" err="1"/>
              <a:t>Mesle</a:t>
            </a:r>
            <a:r>
              <a:rPr lang="en-US" sz="1100" dirty="0"/>
              <a:t> (2004)</a:t>
            </a:r>
          </a:p>
        </p:txBody>
      </p:sp>
    </p:spTree>
    <p:extLst>
      <p:ext uri="{BB962C8B-B14F-4D97-AF65-F5344CB8AC3E}">
        <p14:creationId xmlns:p14="http://schemas.microsoft.com/office/powerpoint/2010/main" val="142144929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65033" y="1268760"/>
            <a:ext cx="9721079" cy="79208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600" b="1" i="1" dirty="0"/>
              <a:t>Health</a:t>
            </a:r>
            <a:r>
              <a:rPr lang="en-US" sz="3500" b="1" i="1" dirty="0"/>
              <a:t> transition theory </a:t>
            </a:r>
            <a:r>
              <a:rPr lang="en-US" sz="2200" b="1" dirty="0"/>
              <a:t>(Meslé and Vallin and 2000, 2004)</a:t>
            </a:r>
            <a:endParaRPr lang="en-US" sz="3500" b="1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F925F401-3AFE-454F-8A37-6702E09287FF}"/>
              </a:ext>
            </a:extLst>
          </p:cNvPr>
          <p:cNvSpPr txBox="1">
            <a:spLocks/>
          </p:cNvSpPr>
          <p:nvPr/>
        </p:nvSpPr>
        <p:spPr>
          <a:xfrm>
            <a:off x="1981200" y="16670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/>
              <a:t>Mortality transitions theories</a:t>
            </a: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7104112" y="1772816"/>
            <a:ext cx="4769823" cy="4987364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9" name="Content Placeholder 2"/>
          <p:cNvSpPr txBox="1">
            <a:spLocks/>
          </p:cNvSpPr>
          <p:nvPr/>
        </p:nvSpPr>
        <p:spPr>
          <a:xfrm>
            <a:off x="695400" y="2169938"/>
            <a:ext cx="6264696" cy="4499422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900" dirty="0"/>
              <a:t>Two additional sanitary transitions</a:t>
            </a:r>
          </a:p>
          <a:p>
            <a:pPr marL="971550" lvl="1" indent="-514350">
              <a:buFont typeface="+mj-lt"/>
              <a:buAutoNum type="arabicPeriod" startAt="2"/>
            </a:pPr>
            <a:r>
              <a:rPr lang="en-US" sz="2700" dirty="0"/>
              <a:t>Cardiovascular revolution</a:t>
            </a:r>
          </a:p>
          <a:p>
            <a:pPr lvl="2"/>
            <a:r>
              <a:rPr lang="en-US" sz="2300" dirty="0"/>
              <a:t>Mostly driven by changes in lifestyle factors, such as diet, smoking, and alcohol abuse</a:t>
            </a:r>
          </a:p>
          <a:p>
            <a:pPr lvl="2"/>
            <a:r>
              <a:rPr lang="en-US" sz="2300" dirty="0"/>
              <a:t>Former eastern communist states not successful at fighting against cardiovascular diseases</a:t>
            </a:r>
          </a:p>
          <a:p>
            <a:pPr marL="971550" lvl="1" indent="-514350">
              <a:buFont typeface="+mj-lt"/>
              <a:buAutoNum type="arabicPeriod" startAt="3"/>
            </a:pPr>
            <a:r>
              <a:rPr lang="en-US" sz="2700" dirty="0"/>
              <a:t>Fight against aging </a:t>
            </a:r>
          </a:p>
          <a:p>
            <a:pPr lvl="2"/>
            <a:r>
              <a:rPr lang="en-US" sz="2300" dirty="0"/>
              <a:t>New improvements mostly taking place at the oldest ages (85+)</a:t>
            </a:r>
          </a:p>
          <a:p>
            <a:pPr lvl="2"/>
            <a:r>
              <a:rPr lang="en-US" sz="2300" dirty="0"/>
              <a:t>Mostly mental and cerebrovascular diseases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12424" y="1772816"/>
            <a:ext cx="1670498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CA" sz="1100" b="1" dirty="0"/>
              <a:t>Source</a:t>
            </a:r>
            <a:endParaRPr lang="en-US" sz="1100" b="1" dirty="0"/>
          </a:p>
          <a:p>
            <a:pPr algn="r"/>
            <a:r>
              <a:rPr lang="en-US" sz="1100" dirty="0"/>
              <a:t>Vallin and </a:t>
            </a:r>
            <a:r>
              <a:rPr lang="en-US" sz="1100" dirty="0" err="1"/>
              <a:t>Mesle</a:t>
            </a:r>
            <a:r>
              <a:rPr lang="en-US" sz="1100" dirty="0"/>
              <a:t> (2004)</a:t>
            </a:r>
          </a:p>
        </p:txBody>
      </p:sp>
    </p:spTree>
    <p:extLst>
      <p:ext uri="{BB962C8B-B14F-4D97-AF65-F5344CB8AC3E}">
        <p14:creationId xmlns:p14="http://schemas.microsoft.com/office/powerpoint/2010/main" val="3760412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27449" y="1268760"/>
            <a:ext cx="10081119" cy="532859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600" b="1" i="1" dirty="0"/>
              <a:t>Health</a:t>
            </a:r>
            <a:r>
              <a:rPr lang="en-US" sz="3500" b="1" i="1" dirty="0"/>
              <a:t> transition theory </a:t>
            </a:r>
            <a:r>
              <a:rPr lang="en-US" sz="2200" b="1" dirty="0"/>
              <a:t>(Meslé and Vallin and 2000, 2004)</a:t>
            </a:r>
            <a:endParaRPr lang="en-US" sz="3500" b="1" dirty="0"/>
          </a:p>
          <a:p>
            <a:r>
              <a:rPr lang="en-US" sz="2900" dirty="0"/>
              <a:t>Not necessary to finish one stage to enter into the next one</a:t>
            </a:r>
          </a:p>
          <a:p>
            <a:pPr lvl="1"/>
            <a:r>
              <a:rPr lang="en-US" sz="2700" dirty="0"/>
              <a:t>Low-income countries → Have started the cardiovascular revolution without fully controlling infectious diseases</a:t>
            </a:r>
          </a:p>
          <a:p>
            <a:pPr lvl="1"/>
            <a:r>
              <a:rPr lang="en-US" sz="2700" dirty="0"/>
              <a:t>Scotland and USA → Entered into the third stage without gaining control of human-made diseases</a:t>
            </a:r>
          </a:p>
          <a:p>
            <a:r>
              <a:rPr lang="en-US" sz="3100" dirty="0"/>
              <a:t>Not necessarily a linear process</a:t>
            </a:r>
          </a:p>
          <a:p>
            <a:pPr lvl="1"/>
            <a:r>
              <a:rPr lang="en-US" sz="2700" dirty="0"/>
              <a:t>It is possible that the order of stages vary in some countries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F925F401-3AFE-454F-8A37-6702E09287FF}"/>
              </a:ext>
            </a:extLst>
          </p:cNvPr>
          <p:cNvSpPr txBox="1">
            <a:spLocks/>
          </p:cNvSpPr>
          <p:nvPr/>
        </p:nvSpPr>
        <p:spPr>
          <a:xfrm>
            <a:off x="1981200" y="16670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/>
              <a:t>Mortality transitions theories</a:t>
            </a:r>
          </a:p>
        </p:txBody>
      </p:sp>
    </p:spTree>
    <p:extLst>
      <p:ext uri="{BB962C8B-B14F-4D97-AF65-F5344CB8AC3E}">
        <p14:creationId xmlns:p14="http://schemas.microsoft.com/office/powerpoint/2010/main" val="299716655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27449" y="1268760"/>
            <a:ext cx="10081119" cy="5328592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sz="3900" b="1" i="1" dirty="0"/>
              <a:t>Update for low- and middle-income countries as of 2019 </a:t>
            </a:r>
            <a:r>
              <a:rPr lang="en-US" sz="2600" b="1" dirty="0"/>
              <a:t>(Castro et al., 2025)</a:t>
            </a:r>
            <a:endParaRPr lang="en-US" sz="2200" b="1" dirty="0"/>
          </a:p>
          <a:p>
            <a:r>
              <a:rPr lang="en-US" sz="3100" dirty="0"/>
              <a:t>55% of LMICs have reached e0 of 70 years</a:t>
            </a:r>
          </a:p>
          <a:p>
            <a:pPr lvl="1"/>
            <a:r>
              <a:rPr lang="en-US" sz="2700" dirty="0"/>
              <a:t>Only 2 sub-Saharan African countries</a:t>
            </a:r>
          </a:p>
          <a:p>
            <a:r>
              <a:rPr lang="en-US" sz="3100" dirty="0"/>
              <a:t>54% reached the “cardiovascular revolution”</a:t>
            </a:r>
          </a:p>
          <a:p>
            <a:pPr lvl="1"/>
            <a:r>
              <a:rPr lang="en-US" sz="2700" dirty="0"/>
              <a:t>Adult (30-60) mortality improvements improved e0</a:t>
            </a:r>
          </a:p>
          <a:p>
            <a:r>
              <a:rPr lang="en-US" sz="3100" dirty="0"/>
              <a:t>49% reached the “slowing ageing process”</a:t>
            </a:r>
          </a:p>
          <a:p>
            <a:pPr lvl="1"/>
            <a:r>
              <a:rPr lang="en-US" sz="2700" dirty="0"/>
              <a:t>Old age (65+) mortality improvements surpassed those of adults</a:t>
            </a:r>
          </a:p>
          <a:p>
            <a:pPr lvl="1"/>
            <a:r>
              <a:rPr lang="en-US" sz="2700" dirty="0"/>
              <a:t>19% if restricting ages to older ages 80+</a:t>
            </a:r>
          </a:p>
          <a:p>
            <a:r>
              <a:rPr lang="en-US" sz="3100" dirty="0"/>
              <a:t>Divergence not limited to High-income Vs Rest, but also between Middle- and Low-income countries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F925F401-3AFE-454F-8A37-6702E09287FF}"/>
              </a:ext>
            </a:extLst>
          </p:cNvPr>
          <p:cNvSpPr txBox="1">
            <a:spLocks/>
          </p:cNvSpPr>
          <p:nvPr/>
        </p:nvSpPr>
        <p:spPr>
          <a:xfrm>
            <a:off x="1981200" y="16670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/>
              <a:t>Mortality transitions theories</a:t>
            </a:r>
          </a:p>
        </p:txBody>
      </p:sp>
    </p:spTree>
    <p:extLst>
      <p:ext uri="{BB962C8B-B14F-4D97-AF65-F5344CB8AC3E}">
        <p14:creationId xmlns:p14="http://schemas.microsoft.com/office/powerpoint/2010/main" val="208398881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27449" y="1268760"/>
            <a:ext cx="10081119" cy="532859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600" b="1" i="1" dirty="0"/>
              <a:t>Update for low- and middle-income countries as of 2019 </a:t>
            </a:r>
            <a:r>
              <a:rPr lang="en-US" sz="2400" b="1" dirty="0"/>
              <a:t>(Castro et al., 2025)</a:t>
            </a:r>
            <a:endParaRPr lang="en-US" sz="2200" b="1" dirty="0"/>
          </a:p>
          <a:p>
            <a:pPr marL="0" indent="0">
              <a:buNone/>
            </a:pPr>
            <a:endParaRPr lang="en-US" sz="2200" b="1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F925F401-3AFE-454F-8A37-6702E09287FF}"/>
              </a:ext>
            </a:extLst>
          </p:cNvPr>
          <p:cNvSpPr txBox="1">
            <a:spLocks/>
          </p:cNvSpPr>
          <p:nvPr/>
        </p:nvSpPr>
        <p:spPr>
          <a:xfrm>
            <a:off x="1981200" y="16670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/>
              <a:t>Mortality transitions theories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77D00D5-0E35-41DA-8ABF-1D21A92DDE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1484" y="2420888"/>
            <a:ext cx="9289032" cy="39057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189089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27449" y="1268760"/>
            <a:ext cx="10081119" cy="5328592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3600" b="1" i="1" dirty="0"/>
              <a:t>Update for high-income countries</a:t>
            </a:r>
            <a:r>
              <a:rPr lang="en-US" sz="3500" b="1" i="1" dirty="0"/>
              <a:t> </a:t>
            </a:r>
            <a:r>
              <a:rPr lang="en-US" sz="2200" b="1" dirty="0"/>
              <a:t>(Dowd et al., 2025)</a:t>
            </a:r>
          </a:p>
          <a:p>
            <a:r>
              <a:rPr lang="en-US" dirty="0"/>
              <a:t>Slowdown in mortality improvements since 2010</a:t>
            </a:r>
          </a:p>
          <a:p>
            <a:pPr lvl="1"/>
            <a:r>
              <a:rPr lang="en-US" sz="2300" dirty="0"/>
              <a:t>The US under high scrutiny because of deterioration</a:t>
            </a:r>
          </a:p>
          <a:p>
            <a:pPr lvl="1"/>
            <a:r>
              <a:rPr lang="en-US" sz="2300" dirty="0"/>
              <a:t>But also slowdowns in the UK, Canada, the Netherlands, Greece, and Germany</a:t>
            </a:r>
          </a:p>
          <a:p>
            <a:r>
              <a:rPr lang="en-US" dirty="0"/>
              <a:t>Increases in CVD mortality and external causes in young and midlife</a:t>
            </a:r>
          </a:p>
          <a:p>
            <a:r>
              <a:rPr lang="en-US" dirty="0"/>
              <a:t>Challenges for C19 lingering effects and obesity epidemic</a:t>
            </a:r>
          </a:p>
          <a:p>
            <a:r>
              <a:rPr lang="en-US" dirty="0"/>
              <a:t>“While biological limits to increased life expectancy may eventually dominate long-term trends, human-made social factors are currently holding many countries back”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F925F401-3AFE-454F-8A37-6702E09287FF}"/>
              </a:ext>
            </a:extLst>
          </p:cNvPr>
          <p:cNvSpPr txBox="1">
            <a:spLocks/>
          </p:cNvSpPr>
          <p:nvPr/>
        </p:nvSpPr>
        <p:spPr>
          <a:xfrm>
            <a:off x="1981200" y="16670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/>
              <a:t>Mortality transitions theories</a:t>
            </a:r>
          </a:p>
        </p:txBody>
      </p:sp>
    </p:spTree>
    <p:extLst>
      <p:ext uri="{BB962C8B-B14F-4D97-AF65-F5344CB8AC3E}">
        <p14:creationId xmlns:p14="http://schemas.microsoft.com/office/powerpoint/2010/main" val="191904447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27449" y="1268760"/>
            <a:ext cx="3600399" cy="532859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600" b="1" i="1" dirty="0"/>
              <a:t>Update for high-income countries</a:t>
            </a:r>
            <a:r>
              <a:rPr lang="en-US" sz="3500" b="1" i="1" dirty="0"/>
              <a:t> </a:t>
            </a:r>
            <a:r>
              <a:rPr lang="en-US" sz="2200" b="1" dirty="0"/>
              <a:t>(Dowd et al., 2025)</a:t>
            </a:r>
          </a:p>
          <a:p>
            <a:pPr marL="0" indent="0">
              <a:buNone/>
            </a:pPr>
            <a:endParaRPr lang="en-US" sz="2200" b="1" dirty="0"/>
          </a:p>
          <a:p>
            <a:pPr marL="0" indent="0">
              <a:buNone/>
            </a:pPr>
            <a:r>
              <a:rPr lang="en-US" sz="2200" b="1" dirty="0"/>
              <a:t>Changes in e0 between 2000 and 2019</a:t>
            </a:r>
          </a:p>
          <a:p>
            <a:r>
              <a:rPr lang="en-US" sz="2200" b="1" dirty="0"/>
              <a:t>Inequalities in levels</a:t>
            </a:r>
          </a:p>
          <a:p>
            <a:r>
              <a:rPr lang="en-US" sz="2200" b="1" dirty="0"/>
              <a:t>Inequalities in changes</a:t>
            </a:r>
          </a:p>
          <a:p>
            <a:r>
              <a:rPr lang="en-US" sz="2200" b="1" dirty="0"/>
              <a:t>Stall in most since 2010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F925F401-3AFE-454F-8A37-6702E09287FF}"/>
              </a:ext>
            </a:extLst>
          </p:cNvPr>
          <p:cNvSpPr txBox="1">
            <a:spLocks/>
          </p:cNvSpPr>
          <p:nvPr/>
        </p:nvSpPr>
        <p:spPr>
          <a:xfrm>
            <a:off x="1981200" y="16670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/>
              <a:t>Mortality transitions theories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D7DD52A-9EA2-4158-8F87-583F5D73FF13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701"/>
          <a:stretch/>
        </p:blipFill>
        <p:spPr>
          <a:xfrm>
            <a:off x="5159897" y="1180938"/>
            <a:ext cx="5976664" cy="5539183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F04E288-8C16-2DAE-ADD8-F838521A1FFC}"/>
              </a:ext>
            </a:extLst>
          </p:cNvPr>
          <p:cNvSpPr txBox="1"/>
          <p:nvPr/>
        </p:nvSpPr>
        <p:spPr>
          <a:xfrm>
            <a:off x="6600056" y="908720"/>
            <a:ext cx="7489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accent1"/>
                </a:solidFill>
              </a:rPr>
              <a:t>males</a:t>
            </a:r>
            <a:endParaRPr lang="en-GB" b="1" dirty="0">
              <a:solidFill>
                <a:schemeClr val="accent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042FD9D-E523-3528-5158-03A83A5423AB}"/>
              </a:ext>
            </a:extLst>
          </p:cNvPr>
          <p:cNvSpPr txBox="1"/>
          <p:nvPr/>
        </p:nvSpPr>
        <p:spPr>
          <a:xfrm>
            <a:off x="8258306" y="908720"/>
            <a:ext cx="9340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C00000"/>
                </a:solidFill>
              </a:rPr>
              <a:t>females</a:t>
            </a:r>
            <a:endParaRPr lang="en-GB" b="1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7184934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27449" y="1268760"/>
            <a:ext cx="10081119" cy="532859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600" b="1" dirty="0"/>
              <a:t>Deterioration in Cardiovascular mortality</a:t>
            </a:r>
            <a:endParaRPr lang="en-US" sz="2200" b="1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F925F401-3AFE-454F-8A37-6702E09287FF}"/>
              </a:ext>
            </a:extLst>
          </p:cNvPr>
          <p:cNvSpPr txBox="1">
            <a:spLocks/>
          </p:cNvSpPr>
          <p:nvPr/>
        </p:nvSpPr>
        <p:spPr>
          <a:xfrm>
            <a:off x="1981200" y="16670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/>
              <a:t>Mortality transitions theories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7A73ECC-22D2-4D33-8EDA-B95A9342FDD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113" t="3997"/>
          <a:stretch>
            <a:fillRect/>
          </a:stretch>
        </p:blipFill>
        <p:spPr>
          <a:xfrm>
            <a:off x="4873975" y="2493263"/>
            <a:ext cx="6919685" cy="345601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8026B70-979A-4528-8265-6FBC443A0297}"/>
              </a:ext>
            </a:extLst>
          </p:cNvPr>
          <p:cNvSpPr txBox="1"/>
          <p:nvPr/>
        </p:nvSpPr>
        <p:spPr>
          <a:xfrm flipH="1">
            <a:off x="536118" y="1988840"/>
            <a:ext cx="4253596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i="1" dirty="0"/>
              <a:t>Drug-related counterfactual fixed at its 2010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i="1" dirty="0"/>
              <a:t>CVD counterfactual average age-specific changes from 2000 to 2009 forward to 2017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i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i="1" dirty="0"/>
              <a:t>Long-term change instead of a temporal shock</a:t>
            </a:r>
            <a:endParaRPr lang="en-US" sz="2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924C806-91C1-4BFB-B6AB-8A441667EDAC}"/>
              </a:ext>
            </a:extLst>
          </p:cNvPr>
          <p:cNvSpPr txBox="1"/>
          <p:nvPr/>
        </p:nvSpPr>
        <p:spPr>
          <a:xfrm>
            <a:off x="1020532" y="5152968"/>
            <a:ext cx="3412671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 dirty="0"/>
              <a:t>Mehta et al. (2020)</a:t>
            </a:r>
          </a:p>
          <a:p>
            <a:pPr algn="r"/>
            <a:r>
              <a:rPr lang="en-US" sz="1600" i="1" dirty="0"/>
              <a:t>US life expectancy stalls due to cardiovascular disease, not drug deaths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F72B122-73B4-93E3-61E8-BEF22B42B126}"/>
              </a:ext>
            </a:extLst>
          </p:cNvPr>
          <p:cNvSpPr txBox="1"/>
          <p:nvPr/>
        </p:nvSpPr>
        <p:spPr>
          <a:xfrm>
            <a:off x="4789714" y="2020753"/>
            <a:ext cx="65114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e</a:t>
            </a:r>
            <a:r>
              <a:rPr lang="en-US" b="1" dirty="0"/>
              <a:t>25</a:t>
            </a:r>
            <a:endParaRPr lang="en-GB" b="1" dirty="0"/>
          </a:p>
        </p:txBody>
      </p:sp>
    </p:spTree>
    <p:extLst>
      <p:ext uri="{BB962C8B-B14F-4D97-AF65-F5344CB8AC3E}">
        <p14:creationId xmlns:p14="http://schemas.microsoft.com/office/powerpoint/2010/main" val="276740444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43472" y="1340768"/>
            <a:ext cx="9001000" cy="5040560"/>
          </a:xfrm>
        </p:spPr>
        <p:txBody>
          <a:bodyPr>
            <a:normAutofit fontScale="92500"/>
          </a:bodyPr>
          <a:lstStyle/>
          <a:p>
            <a:r>
              <a:rPr lang="en-US" sz="2800" dirty="0"/>
              <a:t>Focus the attention on intrinsic mortality </a:t>
            </a:r>
            <a:r>
              <a:rPr lang="en-US" sz="1500" dirty="0"/>
              <a:t>(</a:t>
            </a:r>
            <a:r>
              <a:rPr lang="en-US" sz="1500" dirty="0" err="1"/>
              <a:t>Bongaarts</a:t>
            </a:r>
            <a:r>
              <a:rPr lang="en-US" sz="1500" dirty="0"/>
              <a:t> 2006)</a:t>
            </a:r>
            <a:endParaRPr lang="en-US" sz="2800" dirty="0"/>
          </a:p>
          <a:p>
            <a:r>
              <a:rPr lang="en-US" sz="2800" dirty="0"/>
              <a:t>Until recently, extrinsic mortality was neglected because it was not supposed to have an impact in life expectancy changes</a:t>
            </a:r>
          </a:p>
          <a:p>
            <a:r>
              <a:rPr lang="en-US" sz="2800" dirty="0"/>
              <a:t>However</a:t>
            </a:r>
          </a:p>
          <a:p>
            <a:pPr lvl="1"/>
            <a:r>
              <a:rPr lang="en-US" sz="2400" dirty="0"/>
              <a:t>Several Western countries experienced decreases in e0 in 2014-2015</a:t>
            </a:r>
            <a:r>
              <a:rPr lang="en-US" sz="2000" dirty="0"/>
              <a:t>, </a:t>
            </a:r>
            <a:r>
              <a:rPr lang="en-US" sz="2400" dirty="0"/>
              <a:t>and in the US decreased for three consecutive years</a:t>
            </a:r>
          </a:p>
          <a:p>
            <a:pPr lvl="2"/>
            <a:r>
              <a:rPr lang="en-US" dirty="0"/>
              <a:t>Important role of influenza mortality in 2015 and 2018 </a:t>
            </a:r>
            <a:r>
              <a:rPr lang="en-US" sz="1500" dirty="0"/>
              <a:t>(Ho &amp; Hendy 2018)</a:t>
            </a:r>
            <a:endParaRPr lang="en-US" dirty="0"/>
          </a:p>
          <a:p>
            <a:pPr lvl="2"/>
            <a:r>
              <a:rPr lang="en-US" dirty="0"/>
              <a:t>Drug overdose epidemic in several countries since 2000</a:t>
            </a:r>
          </a:p>
          <a:p>
            <a:pPr lvl="2"/>
            <a:r>
              <a:rPr lang="en-US" dirty="0"/>
              <a:t>COVID-19 pandemic in 2020</a:t>
            </a:r>
          </a:p>
          <a:p>
            <a:pPr lvl="1"/>
            <a:r>
              <a:rPr lang="en-US" dirty="0"/>
              <a:t>Could be more fluctuations than a new trend in mortality</a:t>
            </a:r>
          </a:p>
          <a:p>
            <a:pPr lvl="2"/>
            <a:r>
              <a:rPr lang="en-US" dirty="0"/>
              <a:t>… but it demonstrates that extrinsic causes should not be neglected and still can have a considerable impact in mortality trends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020C57D9-2800-4819-BE3E-57153E4BDFF9}"/>
              </a:ext>
            </a:extLst>
          </p:cNvPr>
          <p:cNvSpPr txBox="1">
            <a:spLocks/>
          </p:cNvSpPr>
          <p:nvPr/>
        </p:nvSpPr>
        <p:spPr>
          <a:xfrm>
            <a:off x="1631504" y="16670"/>
            <a:ext cx="9587408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/>
              <a:t>Contemporary and future mortality trends</a:t>
            </a:r>
          </a:p>
        </p:txBody>
      </p:sp>
    </p:spTree>
    <p:extLst>
      <p:ext uri="{BB962C8B-B14F-4D97-AF65-F5344CB8AC3E}">
        <p14:creationId xmlns:p14="http://schemas.microsoft.com/office/powerpoint/2010/main" val="38799041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020C57D9-2800-4819-BE3E-57153E4BDFF9}"/>
              </a:ext>
            </a:extLst>
          </p:cNvPr>
          <p:cNvSpPr txBox="1">
            <a:spLocks/>
          </p:cNvSpPr>
          <p:nvPr/>
        </p:nvSpPr>
        <p:spPr>
          <a:xfrm>
            <a:off x="1981200" y="16670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/>
              <a:t>Mortality transitions theories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28AB401-58C0-4067-A9B3-DF3669E4EA18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8112224" y="1015092"/>
            <a:ext cx="3642475" cy="4281246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C678BD67-0455-4A35-B692-AD2B1DE5ABC0}"/>
              </a:ext>
            </a:extLst>
          </p:cNvPr>
          <p:cNvSpPr txBox="1"/>
          <p:nvPr/>
        </p:nvSpPr>
        <p:spPr>
          <a:xfrm>
            <a:off x="5856438" y="1208782"/>
            <a:ext cx="2232248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/>
              <a:t>Drug epidemic in the US since 1980s</a:t>
            </a:r>
          </a:p>
          <a:p>
            <a:pPr algn="r"/>
            <a:r>
              <a:rPr lang="en-US" sz="1400" dirty="0"/>
              <a:t>(Jalal et al. 2018)</a:t>
            </a:r>
            <a:endParaRPr lang="en-US" dirty="0"/>
          </a:p>
        </p:txBody>
      </p:sp>
      <p:sp>
        <p:nvSpPr>
          <p:cNvPr id="18" name="Content Placeholder 17">
            <a:extLst>
              <a:ext uri="{FF2B5EF4-FFF2-40B4-BE49-F238E27FC236}">
                <a16:creationId xmlns:a16="http://schemas.microsoft.com/office/drawing/2014/main" id="{033D5D9E-91CD-40B0-A700-B8B35CF089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1207293"/>
            <a:ext cx="4694312" cy="1645643"/>
          </a:xfrm>
        </p:spPr>
        <p:txBody>
          <a:bodyPr>
            <a:normAutofit/>
          </a:bodyPr>
          <a:lstStyle/>
          <a:p>
            <a:r>
              <a:rPr lang="en-US" sz="2400" dirty="0"/>
              <a:t>Some examples of the importance of extrinsic mortality in the current mortality trends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B5BC029-151F-4B7B-85D7-7EF2EFFD3D2A}"/>
              </a:ext>
            </a:extLst>
          </p:cNvPr>
          <p:cNvSpPr txBox="1"/>
          <p:nvPr/>
        </p:nvSpPr>
        <p:spPr>
          <a:xfrm>
            <a:off x="6814685" y="5414883"/>
            <a:ext cx="2664295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Influenza and COVID-19 mortality</a:t>
            </a:r>
          </a:p>
          <a:p>
            <a:r>
              <a:rPr lang="en-US" sz="1400" dirty="0"/>
              <a:t>(Colombia, all sexes and ages)</a:t>
            </a:r>
            <a:endParaRPr lang="en-US" dirty="0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9336" y="3050875"/>
            <a:ext cx="6695349" cy="3347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16970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F8FCE0F-F2F8-56B4-474F-BC2A8D004CD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5439" y="2651890"/>
            <a:ext cx="9832585" cy="3441405"/>
          </a:xfrm>
          <a:prstGeom prst="rect">
            <a:avLst/>
          </a:prstGeo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020C57D9-2800-4819-BE3E-57153E4BDFF9}"/>
              </a:ext>
            </a:extLst>
          </p:cNvPr>
          <p:cNvSpPr txBox="1">
            <a:spLocks/>
          </p:cNvSpPr>
          <p:nvPr/>
        </p:nvSpPr>
        <p:spPr>
          <a:xfrm>
            <a:off x="1981200" y="16670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/>
              <a:t>Mortality transitions theories</a:t>
            </a:r>
          </a:p>
        </p:txBody>
      </p:sp>
      <p:sp>
        <p:nvSpPr>
          <p:cNvPr id="18" name="Content Placeholder 17">
            <a:extLst>
              <a:ext uri="{FF2B5EF4-FFF2-40B4-BE49-F238E27FC236}">
                <a16:creationId xmlns:a16="http://schemas.microsoft.com/office/drawing/2014/main" id="{033D5D9E-91CD-40B0-A700-B8B35CF089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1207293"/>
            <a:ext cx="11175032" cy="1645643"/>
          </a:xfrm>
        </p:spPr>
        <p:txBody>
          <a:bodyPr>
            <a:normAutofit/>
          </a:bodyPr>
          <a:lstStyle/>
          <a:p>
            <a:r>
              <a:rPr lang="en-US" sz="2400" dirty="0"/>
              <a:t>Some examples of the importance of extrinsic mortality in the current mortality trends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B5BC029-151F-4B7B-85D7-7EF2EFFD3D2A}"/>
              </a:ext>
            </a:extLst>
          </p:cNvPr>
          <p:cNvSpPr txBox="1"/>
          <p:nvPr/>
        </p:nvSpPr>
        <p:spPr>
          <a:xfrm>
            <a:off x="839416" y="2107363"/>
            <a:ext cx="67430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The war on Gaza 2023-2025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A96C181-D617-46FE-A2D8-19DFB7E34E10}"/>
              </a:ext>
            </a:extLst>
          </p:cNvPr>
          <p:cNvSpPr txBox="1"/>
          <p:nvPr/>
        </p:nvSpPr>
        <p:spPr>
          <a:xfrm>
            <a:off x="178514" y="6021288"/>
            <a:ext cx="111750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/>
              <a:t>Acosta et al (2026) </a:t>
            </a:r>
            <a:r>
              <a:rPr lang="en-GB" i="1" dirty="0"/>
              <a:t>War, So Much War... Death, How Much Death: Two Years of Demographic Collapse in Gaza</a:t>
            </a:r>
            <a:endParaRPr lang="en-US" i="1" dirty="0"/>
          </a:p>
        </p:txBody>
      </p:sp>
    </p:spTree>
    <p:extLst>
      <p:ext uri="{BB962C8B-B14F-4D97-AF65-F5344CB8AC3E}">
        <p14:creationId xmlns:p14="http://schemas.microsoft.com/office/powerpoint/2010/main" val="175526305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A4811F6A-78B1-4E7D-A3FB-03CCF797080B}"/>
              </a:ext>
            </a:extLst>
          </p:cNvPr>
          <p:cNvSpPr txBox="1">
            <a:spLocks/>
          </p:cNvSpPr>
          <p:nvPr/>
        </p:nvSpPr>
        <p:spPr>
          <a:xfrm>
            <a:off x="1847528" y="2348880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6600" b="1" dirty="0"/>
              <a:t>Visualizing transitions</a:t>
            </a:r>
          </a:p>
        </p:txBody>
      </p:sp>
    </p:spTree>
    <p:extLst>
      <p:ext uri="{BB962C8B-B14F-4D97-AF65-F5344CB8AC3E}">
        <p14:creationId xmlns:p14="http://schemas.microsoft.com/office/powerpoint/2010/main" val="252146718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9B7E1B-4595-769C-6553-795AABC7D7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79FAB8F3-1CEC-5EE0-063A-458A9997294E}"/>
              </a:ext>
            </a:extLst>
          </p:cNvPr>
          <p:cNvSpPr txBox="1"/>
          <p:nvPr/>
        </p:nvSpPr>
        <p:spPr>
          <a:xfrm>
            <a:off x="1775520" y="2577780"/>
            <a:ext cx="1800200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b="1" dirty="0"/>
              <a:t>Hong Kong 1986-1995</a:t>
            </a:r>
          </a:p>
          <a:p>
            <a:pPr algn="r"/>
            <a:r>
              <a:rPr lang="en-US" sz="1400" dirty="0"/>
              <a:t>Arriaga’s decomposition of the change in life expectancy by age group and major causes of death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E795DDB-7889-189E-0512-38FD6A892476}"/>
              </a:ext>
            </a:extLst>
          </p:cNvPr>
          <p:cNvSpPr txBox="1"/>
          <p:nvPr/>
        </p:nvSpPr>
        <p:spPr>
          <a:xfrm>
            <a:off x="1919536" y="5687670"/>
            <a:ext cx="165618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i="1" dirty="0"/>
              <a:t>Source: </a:t>
            </a:r>
            <a:r>
              <a:rPr lang="en-US" sz="1400" dirty="0"/>
              <a:t>Zheng et al. (2019)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30205FE-9DAD-DC23-1DF7-0077356B6D4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42210" y="1556793"/>
            <a:ext cx="6048974" cy="4968552"/>
          </a:xfrm>
          <a:prstGeom prst="rect">
            <a:avLst/>
          </a:prstGeom>
        </p:spPr>
      </p:pic>
      <p:sp>
        <p:nvSpPr>
          <p:cNvPr id="10" name="Title 1">
            <a:extLst>
              <a:ext uri="{FF2B5EF4-FFF2-40B4-BE49-F238E27FC236}">
                <a16:creationId xmlns:a16="http://schemas.microsoft.com/office/drawing/2014/main" id="{9273505F-F814-3F25-3687-948593D0EB7E}"/>
              </a:ext>
            </a:extLst>
          </p:cNvPr>
          <p:cNvSpPr txBox="1">
            <a:spLocks/>
          </p:cNvSpPr>
          <p:nvPr/>
        </p:nvSpPr>
        <p:spPr>
          <a:xfrm>
            <a:off x="1981200" y="16670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/>
              <a:t>Visualizing transitions</a:t>
            </a:r>
          </a:p>
        </p:txBody>
      </p:sp>
    </p:spTree>
    <p:extLst>
      <p:ext uri="{BB962C8B-B14F-4D97-AF65-F5344CB8AC3E}">
        <p14:creationId xmlns:p14="http://schemas.microsoft.com/office/powerpoint/2010/main" val="7757123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>
          <a:xfrm>
            <a:off x="1775520" y="2577780"/>
            <a:ext cx="1800200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b="1" dirty="0"/>
              <a:t>Zambia, 2010-2012</a:t>
            </a:r>
          </a:p>
          <a:p>
            <a:pPr algn="r"/>
            <a:r>
              <a:rPr lang="en-US" sz="1400" dirty="0"/>
              <a:t>Arriaga’s decomposition of the change in life expectancy by age group and major causes of death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19536" y="5687670"/>
            <a:ext cx="165618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i="1" dirty="0"/>
              <a:t>Source: </a:t>
            </a:r>
            <a:r>
              <a:rPr lang="en-US" sz="1400" dirty="0"/>
              <a:t>Chisumpa et al. (2018)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A4811F6A-78B1-4E7D-A3FB-03CCF797080B}"/>
              </a:ext>
            </a:extLst>
          </p:cNvPr>
          <p:cNvSpPr txBox="1">
            <a:spLocks/>
          </p:cNvSpPr>
          <p:nvPr/>
        </p:nvSpPr>
        <p:spPr>
          <a:xfrm>
            <a:off x="1981200" y="16670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/>
              <a:t>Visualizing transitions</a:t>
            </a:r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42A675F2-85F0-4FFB-B06B-3F20A32D80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19736" y="1268760"/>
            <a:ext cx="6491064" cy="51189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3002526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8472264" y="5962686"/>
            <a:ext cx="165618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i="1" dirty="0"/>
              <a:t>Source: </a:t>
            </a:r>
            <a:r>
              <a:rPr lang="en-US" sz="1400" dirty="0" err="1"/>
              <a:t>Vallin</a:t>
            </a:r>
            <a:r>
              <a:rPr lang="en-US" sz="1400" dirty="0"/>
              <a:t> and </a:t>
            </a:r>
            <a:r>
              <a:rPr lang="en-US" sz="1400" dirty="0" err="1"/>
              <a:t>Mesle</a:t>
            </a:r>
            <a:r>
              <a:rPr lang="en-US" sz="1400" dirty="0"/>
              <a:t> (2004)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A4811F6A-78B1-4E7D-A3FB-03CCF797080B}"/>
              </a:ext>
            </a:extLst>
          </p:cNvPr>
          <p:cNvSpPr txBox="1">
            <a:spLocks/>
          </p:cNvSpPr>
          <p:nvPr/>
        </p:nvSpPr>
        <p:spPr>
          <a:xfrm>
            <a:off x="1981200" y="16670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/>
              <a:t>Visualizing transitions</a:t>
            </a:r>
          </a:p>
        </p:txBody>
      </p:sp>
      <p:pic>
        <p:nvPicPr>
          <p:cNvPr id="8" name="Picture 7"/>
          <p:cNvPicPr/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1683" b="17626"/>
          <a:stretch/>
        </p:blipFill>
        <p:spPr bwMode="auto">
          <a:xfrm>
            <a:off x="5519936" y="1579752"/>
            <a:ext cx="5010150" cy="2952328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pic>
        <p:nvPicPr>
          <p:cNvPr id="6" name="Picture 5"/>
          <p:cNvPicPr/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58676"/>
          <a:stretch/>
        </p:blipFill>
        <p:spPr bwMode="auto">
          <a:xfrm>
            <a:off x="695400" y="1484784"/>
            <a:ext cx="5010150" cy="2998247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pic>
        <p:nvPicPr>
          <p:cNvPr id="9" name="Picture 8"/>
          <p:cNvPicPr/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2374"/>
          <a:stretch/>
        </p:blipFill>
        <p:spPr bwMode="auto">
          <a:xfrm>
            <a:off x="5591944" y="4602352"/>
            <a:ext cx="5010150" cy="1278846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12" name="TextBox 11"/>
          <p:cNvSpPr txBox="1"/>
          <p:nvPr/>
        </p:nvSpPr>
        <p:spPr>
          <a:xfrm>
            <a:off x="1487488" y="4642371"/>
            <a:ext cx="3816424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 b="1" dirty="0"/>
              <a:t>Example of divergence process during the cardiovascular revolution</a:t>
            </a:r>
          </a:p>
          <a:p>
            <a:pPr algn="r"/>
            <a:r>
              <a:rPr lang="en-US" sz="1600" b="1" dirty="0"/>
              <a:t>the UK and Russia, 1965 to 2000</a:t>
            </a:r>
          </a:p>
          <a:p>
            <a:pPr algn="r"/>
            <a:endParaRPr lang="en-US" sz="1600" b="1" dirty="0"/>
          </a:p>
          <a:p>
            <a:pPr algn="r"/>
            <a:r>
              <a:rPr lang="en-US" sz="1600" dirty="0"/>
              <a:t>Arriaga’s decomposition of the change in life expectancy by age group and major causes of death</a:t>
            </a:r>
          </a:p>
        </p:txBody>
      </p:sp>
    </p:spTree>
    <p:extLst>
      <p:ext uri="{BB962C8B-B14F-4D97-AF65-F5344CB8AC3E}">
        <p14:creationId xmlns:p14="http://schemas.microsoft.com/office/powerpoint/2010/main" val="3253644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56610" y="935222"/>
            <a:ext cx="6254190" cy="586122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911396" y="1434780"/>
            <a:ext cx="1800200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b="1" dirty="0"/>
              <a:t>French cause-of-death </a:t>
            </a:r>
            <a:r>
              <a:rPr lang="en-US" sz="1400" dirty="0"/>
              <a:t>1925–1999</a:t>
            </a:r>
            <a:endParaRPr lang="en-US" sz="1400" b="1" dirty="0"/>
          </a:p>
          <a:p>
            <a:pPr algn="r"/>
            <a:endParaRPr lang="en-US" sz="1400" b="1" dirty="0"/>
          </a:p>
          <a:p>
            <a:pPr algn="r"/>
            <a:r>
              <a:rPr lang="en-US" sz="1400" dirty="0"/>
              <a:t>The most common cause of death and its proportion on all deaths, total population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24325" y="3716447"/>
            <a:ext cx="165618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i="1" dirty="0"/>
              <a:t>Source: </a:t>
            </a:r>
            <a:r>
              <a:rPr lang="en-US" sz="1400" dirty="0"/>
              <a:t>Schöley &amp; Willekens (2017)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DE50FCB7-A9F6-40AF-9D6A-4D8315E4EF5D}"/>
              </a:ext>
            </a:extLst>
          </p:cNvPr>
          <p:cNvSpPr txBox="1">
            <a:spLocks/>
          </p:cNvSpPr>
          <p:nvPr/>
        </p:nvSpPr>
        <p:spPr>
          <a:xfrm>
            <a:off x="1981200" y="16670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/>
              <a:t>Visualizing transitions</a:t>
            </a:r>
          </a:p>
        </p:txBody>
      </p:sp>
    </p:spTree>
    <p:extLst>
      <p:ext uri="{BB962C8B-B14F-4D97-AF65-F5344CB8AC3E}">
        <p14:creationId xmlns:p14="http://schemas.microsoft.com/office/powerpoint/2010/main" val="170241710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71664" y="1196751"/>
            <a:ext cx="8951577" cy="523599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172381" y="5996111"/>
            <a:ext cx="165618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i="1" dirty="0"/>
              <a:t>Source: </a:t>
            </a:r>
            <a:r>
              <a:rPr lang="en-US" sz="1400" dirty="0" err="1"/>
              <a:t>Kashnitsky</a:t>
            </a:r>
            <a:r>
              <a:rPr lang="en-US" sz="1400" dirty="0"/>
              <a:t> &amp; Aburto (2019)</a:t>
            </a:r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3392" y="3962686"/>
            <a:ext cx="4112207" cy="227462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79376" y="1557993"/>
            <a:ext cx="2520280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b="1" i="1" dirty="0"/>
              <a:t>Geofacet </a:t>
            </a:r>
            <a:r>
              <a:rPr lang="en-US" sz="1400" b="1" dirty="0"/>
              <a:t>of Mexican cause-of-death 1990–2015</a:t>
            </a:r>
          </a:p>
          <a:p>
            <a:pPr algn="r"/>
            <a:endParaRPr lang="en-US" sz="1400" b="1" dirty="0"/>
          </a:p>
          <a:p>
            <a:pPr algn="r"/>
            <a:r>
              <a:rPr lang="en-US" sz="1400" dirty="0"/>
              <a:t>Color-coded ternary compositions of the</a:t>
            </a:r>
          </a:p>
          <a:p>
            <a:pPr algn="r"/>
            <a:r>
              <a:rPr lang="en-US" sz="1400" dirty="0"/>
              <a:t>three leading groups of causes of death by age (15–49)</a:t>
            </a:r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1B744764-7B65-4C03-86B7-5962FFF0C5FA}"/>
              </a:ext>
            </a:extLst>
          </p:cNvPr>
          <p:cNvSpPr txBox="1">
            <a:spLocks/>
          </p:cNvSpPr>
          <p:nvPr/>
        </p:nvSpPr>
        <p:spPr>
          <a:xfrm>
            <a:off x="1981200" y="16670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/>
              <a:t>Visualizing transitions</a:t>
            </a:r>
          </a:p>
        </p:txBody>
      </p:sp>
    </p:spTree>
    <p:extLst>
      <p:ext uri="{BB962C8B-B14F-4D97-AF65-F5344CB8AC3E}">
        <p14:creationId xmlns:p14="http://schemas.microsoft.com/office/powerpoint/2010/main" val="160004633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Mortality change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71464" y="1268760"/>
            <a:ext cx="10081120" cy="54006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Summary</a:t>
            </a:r>
          </a:p>
          <a:p>
            <a:r>
              <a:rPr lang="en-US" sz="2800" dirty="0"/>
              <a:t>Very fast mortality change in the two previous centuries</a:t>
            </a:r>
          </a:p>
          <a:p>
            <a:pPr lvl="1"/>
            <a:r>
              <a:rPr lang="en-US" sz="2400" i="1" dirty="0"/>
              <a:t>e0 </a:t>
            </a:r>
            <a:r>
              <a:rPr lang="en-US" sz="2400" dirty="0"/>
              <a:t>more than doubled</a:t>
            </a:r>
          </a:p>
          <a:p>
            <a:pPr lvl="1"/>
            <a:r>
              <a:rPr lang="en-US" sz="2400" dirty="0"/>
              <a:t>But… very unequally!! (concerningly unequal)</a:t>
            </a:r>
          </a:p>
          <a:p>
            <a:r>
              <a:rPr lang="en-US" sz="2800" dirty="0"/>
              <a:t>Mortality partition theories</a:t>
            </a:r>
          </a:p>
          <a:p>
            <a:pPr lvl="1"/>
            <a:r>
              <a:rPr lang="en-US" sz="2200" dirty="0"/>
              <a:t>Extrinsic and intrinsic causes</a:t>
            </a:r>
          </a:p>
          <a:p>
            <a:r>
              <a:rPr lang="en-US" sz="2800" dirty="0"/>
              <a:t>Transition theories</a:t>
            </a:r>
          </a:p>
          <a:p>
            <a:pPr lvl="1"/>
            <a:r>
              <a:rPr lang="en-US" sz="2200" dirty="0"/>
              <a:t>From a predominance of extrinsic to intrinsic causes</a:t>
            </a:r>
          </a:p>
          <a:p>
            <a:pPr lvl="1"/>
            <a:r>
              <a:rPr lang="en-US" sz="2200" dirty="0"/>
              <a:t>Current emphasis on intrinsic causes as the main killers</a:t>
            </a:r>
          </a:p>
          <a:p>
            <a:pPr lvl="1"/>
            <a:r>
              <a:rPr lang="en-US" sz="2200" dirty="0"/>
              <a:t>But:</a:t>
            </a:r>
          </a:p>
          <a:p>
            <a:pPr lvl="2"/>
            <a:r>
              <a:rPr lang="en-US" sz="1800" dirty="0"/>
              <a:t>Huge heterogeneity worldwide</a:t>
            </a:r>
          </a:p>
          <a:p>
            <a:pPr lvl="2"/>
            <a:r>
              <a:rPr lang="en-US" sz="1800" dirty="0"/>
              <a:t>Extrinsic still very important everywhere… </a:t>
            </a:r>
          </a:p>
        </p:txBody>
      </p:sp>
    </p:spTree>
    <p:extLst>
      <p:ext uri="{BB962C8B-B14F-4D97-AF65-F5344CB8AC3E}">
        <p14:creationId xmlns:p14="http://schemas.microsoft.com/office/powerpoint/2010/main" val="2122849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Mortality change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847528" y="1268760"/>
            <a:ext cx="8784976" cy="54006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Remaining questions:</a:t>
            </a:r>
          </a:p>
          <a:p>
            <a:r>
              <a:rPr lang="en-US" sz="2800" dirty="0"/>
              <a:t>How these changes occurred within the population?</a:t>
            </a:r>
          </a:p>
          <a:p>
            <a:r>
              <a:rPr lang="en-US" sz="2800" dirty="0"/>
              <a:t>Described changes mostly based on either external environment (extrinsic) or in internal biology (intrinsic)… </a:t>
            </a:r>
          </a:p>
          <a:p>
            <a:pPr lvl="1"/>
            <a:r>
              <a:rPr lang="en-US" sz="2400" dirty="0"/>
              <a:t>What about interactions: e.g., extrinsic factors affecting internal processes?</a:t>
            </a:r>
          </a:p>
          <a:p>
            <a:pPr lvl="2"/>
            <a:r>
              <a:rPr lang="en-US" sz="2000" dirty="0"/>
              <a:t>Lasting scars after early life exposures</a:t>
            </a:r>
          </a:p>
          <a:p>
            <a:pPr lvl="2"/>
            <a:r>
              <a:rPr lang="en-US" sz="2000" dirty="0"/>
              <a:t>Gradual changes in bodies physiology over generations</a:t>
            </a:r>
          </a:p>
          <a:p>
            <a:pPr lvl="2"/>
            <a:r>
              <a:rPr lang="en-US" sz="2000" dirty="0"/>
              <a:t>Different generation identities</a:t>
            </a:r>
          </a:p>
          <a:p>
            <a:pPr lvl="1"/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361766543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2752</TotalTime>
  <Words>2800</Words>
  <Application>Microsoft Office PowerPoint</Application>
  <PresentationFormat>Widescreen</PresentationFormat>
  <Paragraphs>387</Paragraphs>
  <Slides>51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51</vt:i4>
      </vt:variant>
    </vt:vector>
  </HeadingPairs>
  <TitlesOfParts>
    <vt:vector size="55" baseType="lpstr">
      <vt:lpstr>Arial</vt:lpstr>
      <vt:lpstr>Calibri</vt:lpstr>
      <vt:lpstr>Courier New</vt:lpstr>
      <vt:lpstr>Office Theme</vt:lpstr>
      <vt:lpstr>Mortality disturbances: Age-Period-Cohort modeling and visualization</vt:lpstr>
      <vt:lpstr>Course outline</vt:lpstr>
      <vt:lpstr>Course outline</vt:lpstr>
      <vt:lpstr>Course outline</vt:lpstr>
      <vt:lpstr>Course outline</vt:lpstr>
      <vt:lpstr>Course outline</vt:lpstr>
      <vt:lpstr>Lecture I. Introduction to mortality trends</vt:lpstr>
      <vt:lpstr>Demographic transition and mortality change</vt:lpstr>
      <vt:lpstr>Changes in all-cause mortality</vt:lpstr>
      <vt:lpstr>Changes in all-cause mortality</vt:lpstr>
      <vt:lpstr>Changes in all-cause mortality</vt:lpstr>
      <vt:lpstr>Changes in all-cause mortality</vt:lpstr>
      <vt:lpstr>Changes in all-cause mortality</vt:lpstr>
      <vt:lpstr>Changes in all-cause mortality</vt:lpstr>
      <vt:lpstr>Changes in all-cause mortality</vt:lpstr>
      <vt:lpstr>Changes in all-cause mortality</vt:lpstr>
      <vt:lpstr>Changes in all-cause mortality</vt:lpstr>
      <vt:lpstr>Mortality partition</vt:lpstr>
      <vt:lpstr>Mortality partition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Mortality change</vt:lpstr>
      <vt:lpstr>Mortality change</vt:lpstr>
    </vt:vector>
  </TitlesOfParts>
  <Company>MPI for Demographic Research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Enrique Acosta</dc:creator>
  <cp:lastModifiedBy>Enrique Acosta</cp:lastModifiedBy>
  <cp:revision>435</cp:revision>
  <dcterms:created xsi:type="dcterms:W3CDTF">2019-11-13T14:04:23Z</dcterms:created>
  <dcterms:modified xsi:type="dcterms:W3CDTF">2026-06-08T21:44:56Z</dcterms:modified>
</cp:coreProperties>
</file>